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9ADFD43-C8C9-4482-B8C4-8DE87E6E9C6F}">
  <a:tblStyle styleId="{B9ADFD43-C8C9-4482-B8C4-8DE87E6E9C6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42" Type="http://schemas.openxmlformats.org/officeDocument/2006/relationships/slide" Target="slides/slide36.xml"/><Relationship Id="rId86" Type="http://schemas.openxmlformats.org/officeDocument/2006/relationships/slide" Target="slides/slide80.xml"/><Relationship Id="rId41" Type="http://schemas.openxmlformats.org/officeDocument/2006/relationships/slide" Target="slides/slide35.xml"/><Relationship Id="rId85" Type="http://schemas.openxmlformats.org/officeDocument/2006/relationships/slide" Target="slides/slide79.xml"/><Relationship Id="rId44" Type="http://schemas.openxmlformats.org/officeDocument/2006/relationships/slide" Target="slides/slide38.xml"/><Relationship Id="rId88" Type="http://schemas.openxmlformats.org/officeDocument/2006/relationships/slide" Target="slides/slide82.xml"/><Relationship Id="rId43" Type="http://schemas.openxmlformats.org/officeDocument/2006/relationships/slide" Target="slides/slide37.xml"/><Relationship Id="rId87" Type="http://schemas.openxmlformats.org/officeDocument/2006/relationships/slide" Target="slides/slide81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33bb8e14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33bb8e14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d33bb8e142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d33bb8e142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cbdbff6a0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cbdbff6a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33bb8e14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33bb8e14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dcba591e7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dcba591e7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cbdbff6a0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cbdbff6a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cba591e71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cba591e71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33bb8e14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33bb8e14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cba591e71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dcba591e71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cba591e71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dcba591e71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cba591e7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dcba591e7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cba591e71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cba591e71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dcba591e71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dcba591e71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d33bb8e14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d33bb8e14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cbdbff6a0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cbdbff6a0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dcbdbff6a0_1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dcbdbff6a0_1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cbdbff6a0_12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3dcbdbff6a0_12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dcbdbff6a0_1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dcbdbff6a0_1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dcbdbff6a0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dcbdbff6a0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dcbdbff6a0_1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dcbdbff6a0_1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cbdbff6a0_12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cbdbff6a0_12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dcbdbff6a0_12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2" name="Google Shape;432;g3dcbdbff6a0_12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dcbdbff6a0_1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3dcbdbff6a0_1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dcbdbff6a0_12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dcbdbff6a0_12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cbdbff6a0_12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cbdbff6a0_12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g3dcbdbff6a0_1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0" name="Google Shape;540;g3dcbdbff6a0_1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dcbdbff6a0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9" name="Google Shape;569;g3dcbdbff6a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dc8bf225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dc8bf225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dca5428265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dca5428265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g3dca542826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4" name="Google Shape;594;g3dca542826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dca5428265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dca5428265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g3dca5428265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9" name="Google Shape;609;g3dca5428265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3dca5428265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3dca5428265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3dca542826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3dca542826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g3dcbdbff6a0_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0" name="Google Shape;650;g3dcbdbff6a0_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g3dcbd1994a5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8" name="Google Shape;658;g3dcbd1994a5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dcbd1994a5_1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dcbd1994a5_1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g3dcbd1994a5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0" name="Google Shape;680;g3dcbd1994a5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5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g3dcbd1994a5_1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7" name="Google Shape;687;g3dcbd1994a5_1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g3dcbdbff6a0_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5" name="Google Shape;695;g3dcbdbff6a0_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3dcbd1994a5_1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3dcbd1994a5_1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dcbd1994a5_1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dcbd1994a5_1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g3dcbdbff6a0_3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8" name="Google Shape;728;g3dcbdbff6a0_3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g3dcbdbff6a0_3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2" name="Google Shape;742;g3dcbdbff6a0_3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g3dcbdbff6a0_5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0" name="Google Shape;750;g3dcbdbff6a0_5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dcbdbff6a0_5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dcbdbff6a0_5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3dcbdbff6a0_5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3dcbdbff6a0_5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dcbdbff6a0_5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dcbdbff6a0_5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dcbdbff6a0_5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5" name="Google Shape;805;g3dcbdbff6a0_5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g3dcbdbff6a0_28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6" name="Google Shape;816;g3dcbdbff6a0_28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dcbdbff6a0_5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3" name="Google Shape;823;g3dcbdbff6a0_5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g3dcbdbff6a0_5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2" name="Google Shape;862;g3dcbdbff6a0_5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g3dcbdbff6a0_19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3dcbdbff6a0_19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0" name="Shape 9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Google Shape;901;g3dcbdbff6a0_28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2" name="Google Shape;902;g3dcbdbff6a0_28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g3dcbdbff6a0_28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0" name="Google Shape;920;g3dcbdbff6a0_28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6" name="Shape 9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7" name="Google Shape;927;g3dcbdbff6a0_5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8" name="Google Shape;928;g3dcbdbff6a0_5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g3dcbdbff6a0_28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6" name="Google Shape;946;g3dcbdbff6a0_28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g3dcbdbff6a0_28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0" name="Google Shape;960;g3dcbdbff6a0_28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g3dcbdbff6a0_19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3" name="Google Shape;973;g3dcbdbff6a0_19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3dcbdbff6a0_19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3dcbdbff6a0_19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3dcbdbff6a0_19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3dcbdbff6a0_19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g3d38aaa95fc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0" name="Google Shape;1010;g3d38aaa95fc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3dcbdbff6a0_18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3dcbdbff6a0_18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dcbdbff6a0_27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dcbdbff6a0_27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dcb55981eb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3dcb55981eb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3dcb55981eb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3dcb55981eb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dcbdbff6a0_1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3dcbdbff6a0_1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dcbdbff6a0_1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dcbdbff6a0_1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g3dcbdbff6a0_1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3" name="Google Shape;1063;g3dcbdbff6a0_1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dcbdbff6a0_18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7" name="Google Shape;1077;g3dcbdbff6a0_18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3dcbdbff6a0_1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3dcbdbff6a0_1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dcb55981eb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7" name="Google Shape;1097;g3dcb55981eb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1" name="Google Shape;1101;g3dcbdbff6a0_1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2" name="Google Shape;1102;g3dcbdbff6a0_1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g3dcbdbff6a0_2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7" name="Google Shape;1107;g3dcbdbff6a0_2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g3dcbdbff6a0_21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6" name="Google Shape;1116;g3dcbdbff6a0_21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dcbdbff6a0_1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7" name="Google Shape;1127;g3dcbdbff6a0_1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" name="Google Shape;1135;g3dcbdbff6a0_2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6" name="Google Shape;1136;g3dcbdbff6a0_2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3dcbdbff6a0_27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3dcbdbff6a0_27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g3dcbdbff6a0_2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6" name="Google Shape;1156;g3dcbdbff6a0_2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dcbdbff6a0_27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3dcbdbff6a0_27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dcbdbff6a0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0" name="Google Shape;1260;g3dcbdbff6a0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g3dcbdbff6a0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7" name="Google Shape;1267;g3dcbdbff6a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dcbdbff6a0_18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3" name="Google Shape;1273;g3dcbdbff6a0_18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dcbdbff6a0_27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0" name="Google Shape;1280;g3dcbdbff6a0_27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3dcbdbff6a0_27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3dcbdbff6a0_27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g3dcbdbff6a0_12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9" name="Google Shape;1299;g3dcbdbff6a0_12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9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2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6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7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8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4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0.jpg"/><Relationship Id="rId4" Type="http://schemas.openxmlformats.org/officeDocument/2006/relationships/image" Target="../media/image40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4.png"/><Relationship Id="rId4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6.png"/><Relationship Id="rId4" Type="http://schemas.openxmlformats.org/officeDocument/2006/relationships/image" Target="../media/image8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7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6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2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4.png"/><Relationship Id="rId4" Type="http://schemas.openxmlformats.org/officeDocument/2006/relationships/image" Target="../media/image37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34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6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1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2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8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8.png"/><Relationship Id="rId4" Type="http://schemas.openxmlformats.org/officeDocument/2006/relationships/image" Target="../media/image38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52.png"/><Relationship Id="rId4" Type="http://schemas.openxmlformats.org/officeDocument/2006/relationships/image" Target="../media/image49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4.png"/><Relationship Id="rId4" Type="http://schemas.openxmlformats.org/officeDocument/2006/relationships/image" Target="../media/image71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0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59.png"/><Relationship Id="rId4" Type="http://schemas.openxmlformats.org/officeDocument/2006/relationships/image" Target="../media/image67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43.png"/><Relationship Id="rId4" Type="http://schemas.openxmlformats.org/officeDocument/2006/relationships/image" Target="../media/image39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png"/><Relationship Id="rId4" Type="http://schemas.openxmlformats.org/officeDocument/2006/relationships/image" Target="../media/image70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14.jpg"/><Relationship Id="rId4" Type="http://schemas.openxmlformats.org/officeDocument/2006/relationships/image" Target="../media/image20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2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64.png"/><Relationship Id="rId4" Type="http://schemas.openxmlformats.org/officeDocument/2006/relationships/image" Target="../media/image4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1.png"/><Relationship Id="rId4" Type="http://schemas.openxmlformats.org/officeDocument/2006/relationships/image" Target="../media/image48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53.png"/><Relationship Id="rId4" Type="http://schemas.openxmlformats.org/officeDocument/2006/relationships/image" Target="../media/image55.png"/><Relationship Id="rId5" Type="http://schemas.openxmlformats.org/officeDocument/2006/relationships/image" Target="../media/image66.png"/><Relationship Id="rId6" Type="http://schemas.openxmlformats.org/officeDocument/2006/relationships/image" Target="../media/image79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57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84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60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7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6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74.png"/><Relationship Id="rId4" Type="http://schemas.openxmlformats.org/officeDocument/2006/relationships/image" Target="../media/image6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65.png"/><Relationship Id="rId4" Type="http://schemas.openxmlformats.org/officeDocument/2006/relationships/image" Target="../media/image76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83.png"/><Relationship Id="rId4" Type="http://schemas.openxmlformats.org/officeDocument/2006/relationships/image" Target="../media/image68.png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3.xml"/><Relationship Id="rId3" Type="http://schemas.openxmlformats.org/officeDocument/2006/relationships/hyperlink" Target="http://drive.google.com/file/d/1OUugHpYS7_hWF48GFg-PUc6AQvA_I8dE/view" TargetMode="External"/><Relationship Id="rId4" Type="http://schemas.openxmlformats.org/officeDocument/2006/relationships/image" Target="../media/image63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69.png"/><Relationship Id="rId4" Type="http://schemas.openxmlformats.org/officeDocument/2006/relationships/image" Target="../media/image72.png"/><Relationship Id="rId5" Type="http://schemas.openxmlformats.org/officeDocument/2006/relationships/image" Target="../media/image75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85.png"/><Relationship Id="rId4" Type="http://schemas.openxmlformats.org/officeDocument/2006/relationships/image" Target="../media/image86.png"/><Relationship Id="rId5" Type="http://schemas.openxmlformats.org/officeDocument/2006/relationships/image" Target="../media/image81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891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RISC-V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multi-cycle, APB_bus</a:t>
            </a:r>
            <a:endParaRPr b="1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078725"/>
            <a:ext cx="8520600" cy="98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4</a:t>
            </a:r>
            <a:r>
              <a:rPr lang="ko">
                <a:solidFill>
                  <a:schemeClr val="dk1"/>
                </a:solidFill>
              </a:rPr>
              <a:t>조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윤수민, 곽은찬, 서어진, 여인석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/>
          <p:nvPr/>
        </p:nvSpPr>
        <p:spPr>
          <a:xfrm>
            <a:off x="0" y="0"/>
            <a:ext cx="9144000" cy="1017600"/>
          </a:xfrm>
          <a:prstGeom prst="rec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</a:rPr>
              <a:t>Contents</a:t>
            </a:r>
            <a:endParaRPr b="1"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1187450" y="1683538"/>
            <a:ext cx="530100" cy="494100"/>
          </a:xfrm>
          <a:prstGeom prst="chord">
            <a:avLst>
              <a:gd fmla="val 20832337" name="adj1"/>
              <a:gd fmla="val 16861978" name="adj2"/>
            </a:avLst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</a:rPr>
              <a:t>1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2816050" y="1683538"/>
            <a:ext cx="530100" cy="494100"/>
          </a:xfrm>
          <a:prstGeom prst="chord">
            <a:avLst>
              <a:gd fmla="val 20832337" name="adj1"/>
              <a:gd fmla="val 16861978" name="adj2"/>
            </a:avLst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</a:rPr>
              <a:t>2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371600" y="1683538"/>
            <a:ext cx="530100" cy="494100"/>
          </a:xfrm>
          <a:prstGeom prst="chord">
            <a:avLst>
              <a:gd fmla="val 20832337" name="adj1"/>
              <a:gd fmla="val 16861978" name="adj2"/>
            </a:avLst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</a:rPr>
              <a:t>3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5963663" y="1683550"/>
            <a:ext cx="530100" cy="494100"/>
          </a:xfrm>
          <a:prstGeom prst="chord">
            <a:avLst>
              <a:gd fmla="val 20832337" name="adj1"/>
              <a:gd fmla="val 16861978" name="adj2"/>
            </a:avLst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</a:rPr>
              <a:t>4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689000" y="2277250"/>
            <a:ext cx="1527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Introduction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143000" y="2277250"/>
            <a:ext cx="1876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Multi-cycle CPU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3956200" y="2277250"/>
            <a:ext cx="144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APB bus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5569775" y="2270500"/>
            <a:ext cx="14409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Peripherals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624200" y="2893575"/>
            <a:ext cx="1656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1) Introduction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2) Project Overview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2360650" y="2893575"/>
            <a:ext cx="1440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1) B/D, FSM Chart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2) State Behavior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3) Simulation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5793200" y="2893575"/>
            <a:ext cx="9939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1) </a:t>
            </a:r>
            <a:r>
              <a:rPr lang="ko" sz="1200">
                <a:solidFill>
                  <a:schemeClr val="dk1"/>
                </a:solidFill>
              </a:rPr>
              <a:t>GPIO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2) BRAM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3) FND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4) UART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4020900" y="2893575"/>
            <a:ext cx="13608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1) Concept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2) Memory Map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3) Simulation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74" name="Google Shape;74;p14"/>
          <p:cNvSpPr/>
          <p:nvPr/>
        </p:nvSpPr>
        <p:spPr>
          <a:xfrm>
            <a:off x="7555750" y="1722300"/>
            <a:ext cx="530100" cy="494100"/>
          </a:xfrm>
          <a:prstGeom prst="chord">
            <a:avLst>
              <a:gd fmla="val 20832337" name="adj1"/>
              <a:gd fmla="val 16861978" name="adj2"/>
            </a:avLst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900">
                <a:solidFill>
                  <a:schemeClr val="lt1"/>
                </a:solidFill>
              </a:rPr>
              <a:t>5</a:t>
            </a:r>
            <a:endParaRPr b="1" sz="1900">
              <a:solidFill>
                <a:schemeClr val="lt1"/>
              </a:solidFill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7121800" y="2277250"/>
            <a:ext cx="1398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600">
                <a:solidFill>
                  <a:schemeClr val="dk1"/>
                </a:solidFill>
              </a:rPr>
              <a:t>Conclusion</a:t>
            </a:r>
            <a:endParaRPr b="1" sz="1600">
              <a:solidFill>
                <a:schemeClr val="dk1"/>
              </a:solidFill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7029775" y="2913800"/>
            <a:ext cx="158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dk1"/>
                </a:solidFill>
              </a:rPr>
              <a:t>1) Board Test</a:t>
            </a:r>
            <a:br>
              <a:rPr lang="ko" sz="1200">
                <a:solidFill>
                  <a:schemeClr val="dk1"/>
                </a:solidFill>
              </a:rPr>
            </a:br>
            <a:r>
              <a:rPr lang="ko" sz="1200">
                <a:solidFill>
                  <a:schemeClr val="dk1"/>
                </a:solidFill>
              </a:rPr>
              <a:t>2</a:t>
            </a:r>
            <a:r>
              <a:rPr lang="ko" sz="1200">
                <a:solidFill>
                  <a:schemeClr val="dk1"/>
                </a:solidFill>
              </a:rPr>
              <a:t>) Trouble Shooting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/>
              <a:t>Introduction</a:t>
            </a:r>
            <a:endParaRPr b="1" sz="4000"/>
          </a:p>
        </p:txBody>
      </p:sp>
      <p:sp>
        <p:nvSpPr>
          <p:cNvPr id="82" name="Google Shape;82;p15"/>
          <p:cNvSpPr/>
          <p:nvPr/>
        </p:nvSpPr>
        <p:spPr>
          <a:xfrm flipH="1" rot="5400000">
            <a:off x="-146812" y="143963"/>
            <a:ext cx="5149225" cy="485560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1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4572000" y="2976750"/>
            <a:ext cx="16566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1) Introduction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2) Project Overview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Introduction</a:t>
            </a:r>
            <a:endParaRPr b="1"/>
          </a:p>
        </p:txBody>
      </p:sp>
      <p:sp>
        <p:nvSpPr>
          <p:cNvPr id="90" name="Google Shape;90;p16"/>
          <p:cNvSpPr txBox="1"/>
          <p:nvPr/>
        </p:nvSpPr>
        <p:spPr>
          <a:xfrm>
            <a:off x="2328675" y="1799275"/>
            <a:ext cx="6319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100">
                <a:solidFill>
                  <a:schemeClr val="dk1"/>
                </a:solidFill>
              </a:rPr>
              <a:t>multi-cycle로 동작하는 RISC-V CPU와 APB bus, 메모리 및 주변장치(GPIO, FND, UART)를 설계하여 구동한다.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448950" y="1799275"/>
            <a:ext cx="3000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100">
                <a:solidFill>
                  <a:schemeClr val="dk1"/>
                </a:solidFill>
              </a:rPr>
              <a:t>프로젝트 목표: </a:t>
            </a:r>
            <a:endParaRPr b="1"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Project Overview</a:t>
            </a:r>
            <a:endParaRPr b="1"/>
          </a:p>
        </p:txBody>
      </p:sp>
      <p:grpSp>
        <p:nvGrpSpPr>
          <p:cNvPr id="97" name="Google Shape;97;p17"/>
          <p:cNvGrpSpPr/>
          <p:nvPr/>
        </p:nvGrpSpPr>
        <p:grpSpPr>
          <a:xfrm>
            <a:off x="1011675" y="1539500"/>
            <a:ext cx="7120650" cy="2854200"/>
            <a:chOff x="1011675" y="1539500"/>
            <a:chExt cx="7120650" cy="2854200"/>
          </a:xfrm>
        </p:grpSpPr>
        <p:grpSp>
          <p:nvGrpSpPr>
            <p:cNvPr id="98" name="Google Shape;98;p17"/>
            <p:cNvGrpSpPr/>
            <p:nvPr/>
          </p:nvGrpSpPr>
          <p:grpSpPr>
            <a:xfrm>
              <a:off x="1011675" y="1539500"/>
              <a:ext cx="7120650" cy="2854200"/>
              <a:chOff x="1536300" y="1590700"/>
              <a:chExt cx="7120650" cy="2854200"/>
            </a:xfrm>
          </p:grpSpPr>
          <p:grpSp>
            <p:nvGrpSpPr>
              <p:cNvPr id="99" name="Google Shape;99;p17"/>
              <p:cNvGrpSpPr/>
              <p:nvPr/>
            </p:nvGrpSpPr>
            <p:grpSpPr>
              <a:xfrm>
                <a:off x="3288425" y="1590700"/>
                <a:ext cx="2121600" cy="2854200"/>
                <a:chOff x="3511200" y="1488125"/>
                <a:chExt cx="2121600" cy="2854200"/>
              </a:xfrm>
            </p:grpSpPr>
            <p:sp>
              <p:nvSpPr>
                <p:cNvPr id="100" name="Google Shape;100;p17"/>
                <p:cNvSpPr/>
                <p:nvPr/>
              </p:nvSpPr>
              <p:spPr>
                <a:xfrm>
                  <a:off x="3511200" y="1488125"/>
                  <a:ext cx="2121600" cy="2854200"/>
                </a:xfrm>
                <a:prstGeom prst="rect">
                  <a:avLst/>
                </a:prstGeom>
                <a:solidFill>
                  <a:srgbClr val="A4C2F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ko"/>
                    <a:t>CPU</a:t>
                  </a:r>
                  <a:endParaRPr b="1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1" name="Google Shape;101;p17"/>
                <p:cNvSpPr/>
                <p:nvPr/>
              </p:nvSpPr>
              <p:spPr>
                <a:xfrm>
                  <a:off x="3663825" y="2617675"/>
                  <a:ext cx="1021800" cy="984300"/>
                </a:xfrm>
                <a:prstGeom prst="rect">
                  <a:avLst/>
                </a:prstGeom>
                <a:solidFill>
                  <a:srgbClr val="EA999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" sz="1200"/>
                    <a:t>register file</a:t>
                  </a:r>
                  <a:endParaRPr sz="1200"/>
                </a:p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" sz="1200"/>
                    <a:t>32x32</a:t>
                  </a:r>
                  <a:endParaRPr sz="1200"/>
                </a:p>
              </p:txBody>
            </p:sp>
            <p:sp>
              <p:nvSpPr>
                <p:cNvPr id="102" name="Google Shape;102;p17"/>
                <p:cNvSpPr/>
                <p:nvPr/>
              </p:nvSpPr>
              <p:spPr>
                <a:xfrm>
                  <a:off x="3663825" y="3792750"/>
                  <a:ext cx="1021800" cy="3897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"/>
                    <a:t>PC</a:t>
                  </a:r>
                  <a:endParaRPr/>
                </a:p>
              </p:txBody>
            </p:sp>
            <p:sp>
              <p:nvSpPr>
                <p:cNvPr id="103" name="Google Shape;103;p17"/>
                <p:cNvSpPr/>
                <p:nvPr/>
              </p:nvSpPr>
              <p:spPr>
                <a:xfrm>
                  <a:off x="3663825" y="2037175"/>
                  <a:ext cx="1746900" cy="3897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ko" sz="1200"/>
                    <a:t>control_unit</a:t>
                  </a:r>
                  <a:endParaRPr sz="1200"/>
                </a:p>
              </p:txBody>
            </p:sp>
            <p:sp>
              <p:nvSpPr>
                <p:cNvPr id="104" name="Google Shape;104;p17"/>
                <p:cNvSpPr/>
                <p:nvPr/>
              </p:nvSpPr>
              <p:spPr>
                <a:xfrm rot="5400000">
                  <a:off x="4731525" y="2854225"/>
                  <a:ext cx="847200" cy="511200"/>
                </a:xfrm>
                <a:prstGeom prst="trapezoid">
                  <a:avLst>
                    <a:gd fmla="val 43290" name="adj"/>
                  </a:avLst>
                </a:pr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5" name="Google Shape;105;p17"/>
                <p:cNvSpPr/>
                <p:nvPr/>
              </p:nvSpPr>
              <p:spPr>
                <a:xfrm rot="5400000">
                  <a:off x="4853775" y="2983825"/>
                  <a:ext cx="343500" cy="252000"/>
                </a:xfrm>
                <a:prstGeom prst="triangle">
                  <a:avLst>
                    <a:gd fmla="val 50000" name="adj"/>
                  </a:avLst>
                </a:prstGeom>
                <a:solidFill>
                  <a:srgbClr val="A4C2F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106" name="Google Shape;106;p17"/>
              <p:cNvSpPr/>
              <p:nvPr/>
            </p:nvSpPr>
            <p:spPr>
              <a:xfrm>
                <a:off x="1536300" y="1995100"/>
                <a:ext cx="1277400" cy="2045400"/>
              </a:xfrm>
              <a:prstGeom prst="rect">
                <a:avLst/>
              </a:prstGeom>
              <a:solidFill>
                <a:srgbClr val="F6B26B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/>
                  <a:t>instruction</a:t>
                </a:r>
                <a:endParaRPr b="1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/>
                  <a:t>memory</a:t>
                </a:r>
                <a:endParaRPr b="1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/>
                  <a:t>32x256</a:t>
                </a:r>
                <a:endParaRPr/>
              </a:p>
            </p:txBody>
          </p:sp>
          <p:sp>
            <p:nvSpPr>
              <p:cNvPr id="107" name="Google Shape;107;p17"/>
              <p:cNvSpPr/>
              <p:nvPr/>
            </p:nvSpPr>
            <p:spPr>
              <a:xfrm>
                <a:off x="5884750" y="1624900"/>
                <a:ext cx="1766100" cy="2785800"/>
              </a:xfrm>
              <a:prstGeom prst="rect">
                <a:avLst/>
              </a:prstGeom>
              <a:solidFill>
                <a:srgbClr val="B4A7D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ko"/>
                  <a:t>APB_BUS</a:t>
                </a:r>
                <a:endParaRPr/>
              </a:p>
            </p:txBody>
          </p:sp>
          <p:sp>
            <p:nvSpPr>
              <p:cNvPr id="108" name="Google Shape;108;p17"/>
              <p:cNvSpPr/>
              <p:nvPr/>
            </p:nvSpPr>
            <p:spPr>
              <a:xfrm>
                <a:off x="6015025" y="2346825"/>
                <a:ext cx="667800" cy="1467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APB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master</a:t>
                </a:r>
                <a:endParaRPr sz="1200"/>
              </a:p>
            </p:txBody>
          </p:sp>
          <p:sp>
            <p:nvSpPr>
              <p:cNvPr id="109" name="Google Shape;109;p17"/>
              <p:cNvSpPr/>
              <p:nvPr/>
            </p:nvSpPr>
            <p:spPr>
              <a:xfrm>
                <a:off x="6859975" y="1994625"/>
                <a:ext cx="667800" cy="3522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slave0</a:t>
                </a:r>
                <a:endParaRPr sz="1200"/>
              </a:p>
            </p:txBody>
          </p:sp>
          <p:sp>
            <p:nvSpPr>
              <p:cNvPr id="110" name="Google Shape;110;p17"/>
              <p:cNvSpPr/>
              <p:nvPr/>
            </p:nvSpPr>
            <p:spPr>
              <a:xfrm>
                <a:off x="6859975" y="2386375"/>
                <a:ext cx="6678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slave1</a:t>
                </a:r>
                <a:endParaRPr sz="1200"/>
              </a:p>
            </p:txBody>
          </p:sp>
          <p:sp>
            <p:nvSpPr>
              <p:cNvPr id="111" name="Google Shape;111;p17"/>
              <p:cNvSpPr/>
              <p:nvPr/>
            </p:nvSpPr>
            <p:spPr>
              <a:xfrm>
                <a:off x="6859975" y="2778125"/>
                <a:ext cx="6678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slave2</a:t>
                </a:r>
                <a:endParaRPr sz="1200"/>
              </a:p>
            </p:txBody>
          </p:sp>
          <p:sp>
            <p:nvSpPr>
              <p:cNvPr id="112" name="Google Shape;112;p17"/>
              <p:cNvSpPr/>
              <p:nvPr/>
            </p:nvSpPr>
            <p:spPr>
              <a:xfrm>
                <a:off x="6859975" y="3169875"/>
                <a:ext cx="6678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slave3</a:t>
                </a:r>
                <a:endParaRPr sz="1200"/>
              </a:p>
            </p:txBody>
          </p:sp>
          <p:sp>
            <p:nvSpPr>
              <p:cNvPr id="113" name="Google Shape;113;p17"/>
              <p:cNvSpPr/>
              <p:nvPr/>
            </p:nvSpPr>
            <p:spPr>
              <a:xfrm>
                <a:off x="6859975" y="3561625"/>
                <a:ext cx="6678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slave4</a:t>
                </a:r>
                <a:endParaRPr sz="1200"/>
              </a:p>
            </p:txBody>
          </p:sp>
          <p:sp>
            <p:nvSpPr>
              <p:cNvPr id="114" name="Google Shape;114;p17"/>
              <p:cNvSpPr/>
              <p:nvPr/>
            </p:nvSpPr>
            <p:spPr>
              <a:xfrm>
                <a:off x="6859975" y="3953375"/>
                <a:ext cx="667800" cy="3522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slave5</a:t>
                </a:r>
                <a:endParaRPr sz="1200"/>
              </a:p>
            </p:txBody>
          </p:sp>
          <p:sp>
            <p:nvSpPr>
              <p:cNvPr id="115" name="Google Shape;115;p17"/>
              <p:cNvSpPr/>
              <p:nvPr/>
            </p:nvSpPr>
            <p:spPr>
              <a:xfrm>
                <a:off x="7989150" y="1994625"/>
                <a:ext cx="667800" cy="345300"/>
              </a:xfrm>
              <a:prstGeom prst="rect">
                <a:avLst/>
              </a:prstGeom>
              <a:solidFill>
                <a:srgbClr val="FFD966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BRAM</a:t>
                </a:r>
                <a:endParaRPr sz="1200"/>
              </a:p>
            </p:txBody>
          </p:sp>
          <p:sp>
            <p:nvSpPr>
              <p:cNvPr id="116" name="Google Shape;116;p17"/>
              <p:cNvSpPr/>
              <p:nvPr/>
            </p:nvSpPr>
            <p:spPr>
              <a:xfrm>
                <a:off x="7989150" y="2387761"/>
                <a:ext cx="667800" cy="34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GPO</a:t>
                </a:r>
                <a:endParaRPr sz="1200"/>
              </a:p>
            </p:txBody>
          </p:sp>
          <p:sp>
            <p:nvSpPr>
              <p:cNvPr id="117" name="Google Shape;117;p17"/>
              <p:cNvSpPr/>
              <p:nvPr/>
            </p:nvSpPr>
            <p:spPr>
              <a:xfrm>
                <a:off x="7989150" y="2780896"/>
                <a:ext cx="667800" cy="34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GPI</a:t>
                </a:r>
                <a:endParaRPr sz="1200"/>
              </a:p>
            </p:txBody>
          </p:sp>
          <p:sp>
            <p:nvSpPr>
              <p:cNvPr id="118" name="Google Shape;118;p17"/>
              <p:cNvSpPr/>
              <p:nvPr/>
            </p:nvSpPr>
            <p:spPr>
              <a:xfrm>
                <a:off x="7989150" y="3174032"/>
                <a:ext cx="667800" cy="34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GPIO</a:t>
                </a:r>
                <a:endParaRPr sz="1200"/>
              </a:p>
            </p:txBody>
          </p:sp>
          <p:sp>
            <p:nvSpPr>
              <p:cNvPr id="119" name="Google Shape;119;p17"/>
              <p:cNvSpPr/>
              <p:nvPr/>
            </p:nvSpPr>
            <p:spPr>
              <a:xfrm>
                <a:off x="7989150" y="3567168"/>
                <a:ext cx="667800" cy="34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FND</a:t>
                </a:r>
                <a:endParaRPr sz="1200"/>
              </a:p>
            </p:txBody>
          </p:sp>
          <p:sp>
            <p:nvSpPr>
              <p:cNvPr id="120" name="Google Shape;120;p17"/>
              <p:cNvSpPr/>
              <p:nvPr/>
            </p:nvSpPr>
            <p:spPr>
              <a:xfrm>
                <a:off x="7989150" y="3960304"/>
                <a:ext cx="667800" cy="3453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ko" sz="1200"/>
                  <a:t>UART</a:t>
                </a:r>
                <a:endParaRPr sz="1200"/>
              </a:p>
            </p:txBody>
          </p:sp>
          <p:sp>
            <p:nvSpPr>
              <p:cNvPr id="121" name="Google Shape;121;p17"/>
              <p:cNvSpPr/>
              <p:nvPr/>
            </p:nvSpPr>
            <p:spPr>
              <a:xfrm>
                <a:off x="7527775" y="2085800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7"/>
              <p:cNvSpPr/>
              <p:nvPr/>
            </p:nvSpPr>
            <p:spPr>
              <a:xfrm rot="10800000">
                <a:off x="7566450" y="2184088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17"/>
              <p:cNvSpPr/>
              <p:nvPr/>
            </p:nvSpPr>
            <p:spPr>
              <a:xfrm>
                <a:off x="7527775" y="2463725"/>
                <a:ext cx="422700" cy="1974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17"/>
              <p:cNvSpPr/>
              <p:nvPr/>
            </p:nvSpPr>
            <p:spPr>
              <a:xfrm rot="10800000">
                <a:off x="7566438" y="2874075"/>
                <a:ext cx="422700" cy="1974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17"/>
              <p:cNvSpPr/>
              <p:nvPr/>
            </p:nvSpPr>
            <p:spPr>
              <a:xfrm>
                <a:off x="7527775" y="3282350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7"/>
              <p:cNvSpPr/>
              <p:nvPr/>
            </p:nvSpPr>
            <p:spPr>
              <a:xfrm rot="10800000">
                <a:off x="7566450" y="3380638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17"/>
              <p:cNvSpPr/>
              <p:nvPr/>
            </p:nvSpPr>
            <p:spPr>
              <a:xfrm>
                <a:off x="7527775" y="3646275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17"/>
              <p:cNvSpPr/>
              <p:nvPr/>
            </p:nvSpPr>
            <p:spPr>
              <a:xfrm rot="10800000">
                <a:off x="7566450" y="3744563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17"/>
              <p:cNvSpPr/>
              <p:nvPr/>
            </p:nvSpPr>
            <p:spPr>
              <a:xfrm>
                <a:off x="7527775" y="4038025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17"/>
              <p:cNvSpPr/>
              <p:nvPr/>
            </p:nvSpPr>
            <p:spPr>
              <a:xfrm rot="10800000">
                <a:off x="7566450" y="4136313"/>
                <a:ext cx="422700" cy="846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5457888" y="2702163"/>
                <a:ext cx="387300" cy="293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 rot="10800000">
                <a:off x="5449575" y="3040338"/>
                <a:ext cx="387300" cy="293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2861563" y="2738563"/>
                <a:ext cx="387300" cy="293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 rot="10800000">
                <a:off x="2853250" y="3076738"/>
                <a:ext cx="387300" cy="293100"/>
              </a:xfrm>
              <a:prstGeom prst="rightArrow">
                <a:avLst>
                  <a:gd fmla="val 50000" name="adj1"/>
                  <a:gd fmla="val 50000" name="adj2"/>
                </a:avLst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4656925" y="3048075"/>
                <a:ext cx="34500" cy="326700"/>
              </a:xfrm>
              <a:prstGeom prst="rect">
                <a:avLst/>
              </a:prstGeom>
              <a:solidFill>
                <a:srgbClr val="A4C2F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00"/>
              </a:p>
            </p:txBody>
          </p:sp>
        </p:grpSp>
        <p:sp>
          <p:nvSpPr>
            <p:cNvPr id="136" name="Google Shape;136;p17"/>
            <p:cNvSpPr txBox="1"/>
            <p:nvPr/>
          </p:nvSpPr>
          <p:spPr>
            <a:xfrm>
              <a:off x="4218888" y="2859925"/>
              <a:ext cx="6135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000">
                  <a:solidFill>
                    <a:schemeClr val="dk1"/>
                  </a:solidFill>
                </a:rPr>
                <a:t>ALU</a:t>
              </a:r>
              <a:endParaRPr sz="1000">
                <a:solidFill>
                  <a:schemeClr val="dk1"/>
                </a:solidFill>
              </a:endParaRPr>
            </a:p>
          </p:txBody>
        </p:sp>
      </p:grpSp>
      <p:sp>
        <p:nvSpPr>
          <p:cNvPr id="137" name="Google Shape;137;p17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System Architecture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Project Overview</a:t>
            </a:r>
            <a:endParaRPr b="1"/>
          </a:p>
        </p:txBody>
      </p:sp>
      <p:pic>
        <p:nvPicPr>
          <p:cNvPr id="143" name="Google Shape;143;p18" title="memory_map.draw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7874" y="380275"/>
            <a:ext cx="3143900" cy="45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Memory Map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9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Multi-cycle CPU</a:t>
            </a:r>
            <a:endParaRPr b="1" sz="3500"/>
          </a:p>
        </p:txBody>
      </p:sp>
      <p:sp>
        <p:nvSpPr>
          <p:cNvPr id="150" name="Google Shape;150;p19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9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2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4572000" y="2976750"/>
            <a:ext cx="1656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300">
                <a:solidFill>
                  <a:schemeClr val="dk1"/>
                </a:solidFill>
              </a:rPr>
              <a:t>1) B/D, FSM Chart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2) State Behavior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3) Simulation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Block Diagram</a:t>
            </a:r>
            <a:endParaRPr b="1"/>
          </a:p>
        </p:txBody>
      </p:sp>
      <p:pic>
        <p:nvPicPr>
          <p:cNvPr id="158" name="Google Shape;158;p20" title="multi-cycle_FSM.drawio.png"/>
          <p:cNvPicPr preferRelativeResize="0"/>
          <p:nvPr/>
        </p:nvPicPr>
        <p:blipFill rotWithShape="1">
          <a:blip r:embed="rId3">
            <a:alphaModFix/>
          </a:blip>
          <a:srcRect b="85012" l="0" r="0" t="0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 title="multi-cycle.drawio.png"/>
          <p:cNvPicPr preferRelativeResize="0"/>
          <p:nvPr/>
        </p:nvPicPr>
        <p:blipFill rotWithShape="1">
          <a:blip r:embed="rId4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FSM Chart</a:t>
            </a:r>
            <a:endParaRPr b="1"/>
          </a:p>
        </p:txBody>
      </p:sp>
      <p:pic>
        <p:nvPicPr>
          <p:cNvPr id="165" name="Google Shape;165;p21" title="multi-cycle_FSM.drawio.png"/>
          <p:cNvPicPr preferRelativeResize="0"/>
          <p:nvPr/>
        </p:nvPicPr>
        <p:blipFill rotWithShape="1">
          <a:blip r:embed="rId3">
            <a:alphaModFix/>
          </a:blip>
          <a:srcRect b="85012" l="0" r="0" t="0"/>
          <a:stretch/>
        </p:blipFill>
        <p:spPr>
          <a:xfrm>
            <a:off x="1233175" y="1703350"/>
            <a:ext cx="6677650" cy="2164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2" title="multi-cycle.drawio.png"/>
          <p:cNvPicPr preferRelativeResize="0"/>
          <p:nvPr/>
        </p:nvPicPr>
        <p:blipFill rotWithShape="1">
          <a:blip r:embed="rId3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Fetch</a:t>
            </a:r>
            <a:endParaRPr b="1"/>
          </a:p>
        </p:txBody>
      </p:sp>
      <p:sp>
        <p:nvSpPr>
          <p:cNvPr id="172" name="Google Shape;172;p22"/>
          <p:cNvSpPr/>
          <p:nvPr/>
        </p:nvSpPr>
        <p:spPr>
          <a:xfrm>
            <a:off x="2870550" y="1107925"/>
            <a:ext cx="733800" cy="136800"/>
          </a:xfrm>
          <a:prstGeom prst="rect">
            <a:avLst/>
          </a:prstGeom>
          <a:solidFill>
            <a:srgbClr val="4285F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3" name="Google Shape;173;p22" title="multi-cycle_FSM.drawio.png"/>
          <p:cNvPicPr preferRelativeResize="0"/>
          <p:nvPr/>
        </p:nvPicPr>
        <p:blipFill rotWithShape="1">
          <a:blip r:embed="rId4">
            <a:alphaModFix/>
          </a:blip>
          <a:srcRect b="67922" l="0" r="0" t="17090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2"/>
          <p:cNvSpPr/>
          <p:nvPr/>
        </p:nvSpPr>
        <p:spPr>
          <a:xfrm>
            <a:off x="2870550" y="1244725"/>
            <a:ext cx="208800" cy="741000"/>
          </a:xfrm>
          <a:prstGeom prst="rect">
            <a:avLst/>
          </a:prstGeom>
          <a:solidFill>
            <a:srgbClr val="4285F4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3" title="multi-cycle.drawio.png"/>
          <p:cNvPicPr preferRelativeResize="0"/>
          <p:nvPr/>
        </p:nvPicPr>
        <p:blipFill rotWithShape="1">
          <a:blip r:embed="rId3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Decode</a:t>
            </a:r>
            <a:endParaRPr b="1"/>
          </a:p>
        </p:txBody>
      </p:sp>
      <p:sp>
        <p:nvSpPr>
          <p:cNvPr id="181" name="Google Shape;181;p23"/>
          <p:cNvSpPr/>
          <p:nvPr/>
        </p:nvSpPr>
        <p:spPr>
          <a:xfrm>
            <a:off x="3935300" y="1465525"/>
            <a:ext cx="1021500" cy="1629600"/>
          </a:xfrm>
          <a:prstGeom prst="rect">
            <a:avLst/>
          </a:prstGeom>
          <a:solidFill>
            <a:srgbClr val="F4429A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2" name="Google Shape;182;p23" title="multi-cycle_FSM.drawio.png"/>
          <p:cNvPicPr preferRelativeResize="0"/>
          <p:nvPr/>
        </p:nvPicPr>
        <p:blipFill rotWithShape="1">
          <a:blip r:embed="rId4">
            <a:alphaModFix/>
          </a:blip>
          <a:srcRect b="50804" l="0" r="0" t="34208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4" title="multi-cycle.drawio.png"/>
          <p:cNvPicPr preferRelativeResize="0"/>
          <p:nvPr/>
        </p:nvPicPr>
        <p:blipFill rotWithShape="1">
          <a:blip r:embed="rId3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Execute</a:t>
            </a:r>
            <a:endParaRPr b="1"/>
          </a:p>
        </p:txBody>
      </p:sp>
      <p:sp>
        <p:nvSpPr>
          <p:cNvPr id="189" name="Google Shape;189;p24"/>
          <p:cNvSpPr/>
          <p:nvPr/>
        </p:nvSpPr>
        <p:spPr>
          <a:xfrm>
            <a:off x="5011625" y="1220125"/>
            <a:ext cx="1808400" cy="3487200"/>
          </a:xfrm>
          <a:prstGeom prst="rect">
            <a:avLst/>
          </a:prstGeom>
          <a:solidFill>
            <a:srgbClr val="5CEA6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4"/>
          <p:cNvSpPr/>
          <p:nvPr/>
        </p:nvSpPr>
        <p:spPr>
          <a:xfrm>
            <a:off x="3739150" y="3188125"/>
            <a:ext cx="1272600" cy="1519200"/>
          </a:xfrm>
          <a:prstGeom prst="rect">
            <a:avLst/>
          </a:prstGeom>
          <a:solidFill>
            <a:srgbClr val="5CEA6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4"/>
          <p:cNvSpPr/>
          <p:nvPr/>
        </p:nvSpPr>
        <p:spPr>
          <a:xfrm>
            <a:off x="6812775" y="1460238"/>
            <a:ext cx="803100" cy="669000"/>
          </a:xfrm>
          <a:prstGeom prst="rect">
            <a:avLst/>
          </a:prstGeom>
          <a:solidFill>
            <a:srgbClr val="5CEA6E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2" name="Google Shape;192;p24" title="multi-cycle_FSM.drawio.png"/>
          <p:cNvPicPr preferRelativeResize="0"/>
          <p:nvPr/>
        </p:nvPicPr>
        <p:blipFill rotWithShape="1">
          <a:blip r:embed="rId4">
            <a:alphaModFix/>
          </a:blip>
          <a:srcRect b="34226" l="0" r="0" t="50786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/>
          <p:nvPr/>
        </p:nvSpPr>
        <p:spPr>
          <a:xfrm>
            <a:off x="7009833" y="2188350"/>
            <a:ext cx="684300" cy="8658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24"/>
          <p:cNvSpPr/>
          <p:nvPr/>
        </p:nvSpPr>
        <p:spPr>
          <a:xfrm>
            <a:off x="3847075" y="2557350"/>
            <a:ext cx="3161700" cy="1062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4"/>
          <p:cNvSpPr/>
          <p:nvPr/>
        </p:nvSpPr>
        <p:spPr>
          <a:xfrm rot="-5400000">
            <a:off x="3738625" y="2351411"/>
            <a:ext cx="314400" cy="975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3944575" y="2242961"/>
            <a:ext cx="282000" cy="990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24"/>
          <p:cNvSpPr/>
          <p:nvPr/>
        </p:nvSpPr>
        <p:spPr>
          <a:xfrm rot="-5400000">
            <a:off x="4578369" y="1374263"/>
            <a:ext cx="174300" cy="975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4"/>
          <p:cNvSpPr/>
          <p:nvPr/>
        </p:nvSpPr>
        <p:spPr>
          <a:xfrm>
            <a:off x="4524525" y="1236869"/>
            <a:ext cx="282000" cy="990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4"/>
          <p:cNvSpPr/>
          <p:nvPr/>
        </p:nvSpPr>
        <p:spPr>
          <a:xfrm rot="-5400000">
            <a:off x="6730025" y="1703100"/>
            <a:ext cx="860700" cy="1098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4"/>
          <p:cNvSpPr/>
          <p:nvPr/>
        </p:nvSpPr>
        <p:spPr>
          <a:xfrm>
            <a:off x="6973325" y="1236875"/>
            <a:ext cx="374100" cy="99000"/>
          </a:xfrm>
          <a:prstGeom prst="rect">
            <a:avLst/>
          </a:prstGeom>
          <a:solidFill>
            <a:srgbClr val="1B5E23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5" title="multi-cycle.drawio.png"/>
          <p:cNvPicPr preferRelativeResize="0"/>
          <p:nvPr/>
        </p:nvPicPr>
        <p:blipFill rotWithShape="1">
          <a:blip r:embed="rId3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Memory</a:t>
            </a:r>
            <a:endParaRPr b="1"/>
          </a:p>
        </p:txBody>
      </p:sp>
      <p:sp>
        <p:nvSpPr>
          <p:cNvPr id="207" name="Google Shape;207;p25"/>
          <p:cNvSpPr/>
          <p:nvPr/>
        </p:nvSpPr>
        <p:spPr>
          <a:xfrm>
            <a:off x="8097203" y="307713"/>
            <a:ext cx="967800" cy="2763000"/>
          </a:xfrm>
          <a:prstGeom prst="rect">
            <a:avLst/>
          </a:prstGeom>
          <a:solidFill>
            <a:srgbClr val="FFDA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7129403" y="696292"/>
            <a:ext cx="967800" cy="480300"/>
          </a:xfrm>
          <a:prstGeom prst="rect">
            <a:avLst/>
          </a:prstGeom>
          <a:solidFill>
            <a:srgbClr val="FFDA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9" name="Google Shape;209;p25" title="multi-cycle_FSM.drawio.png"/>
          <p:cNvPicPr preferRelativeResize="0"/>
          <p:nvPr/>
        </p:nvPicPr>
        <p:blipFill rotWithShape="1">
          <a:blip r:embed="rId4">
            <a:alphaModFix/>
          </a:blip>
          <a:srcRect b="16492" l="0" r="0" t="68520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5"/>
          <p:cNvSpPr/>
          <p:nvPr/>
        </p:nvSpPr>
        <p:spPr>
          <a:xfrm>
            <a:off x="7663328" y="2424513"/>
            <a:ext cx="433800" cy="217800"/>
          </a:xfrm>
          <a:prstGeom prst="rect">
            <a:avLst/>
          </a:prstGeom>
          <a:solidFill>
            <a:srgbClr val="FFDA67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6" title="multi-cycle.drawio.png"/>
          <p:cNvPicPr preferRelativeResize="0"/>
          <p:nvPr/>
        </p:nvPicPr>
        <p:blipFill rotWithShape="1">
          <a:blip r:embed="rId3">
            <a:alphaModFix/>
          </a:blip>
          <a:srcRect b="9281" l="0" r="35283" t="22473"/>
          <a:stretch/>
        </p:blipFill>
        <p:spPr>
          <a:xfrm>
            <a:off x="1810075" y="235125"/>
            <a:ext cx="7302625" cy="46734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Write Back</a:t>
            </a:r>
            <a:endParaRPr b="1"/>
          </a:p>
        </p:txBody>
      </p:sp>
      <p:pic>
        <p:nvPicPr>
          <p:cNvPr id="217" name="Google Shape;217;p26" title="multi-cycle_FSM.drawio.png"/>
          <p:cNvPicPr preferRelativeResize="0"/>
          <p:nvPr/>
        </p:nvPicPr>
        <p:blipFill rotWithShape="1">
          <a:blip r:embed="rId4">
            <a:alphaModFix/>
          </a:blip>
          <a:srcRect b="0" l="1150" r="-1150" t="85012"/>
          <a:stretch/>
        </p:blipFill>
        <p:spPr>
          <a:xfrm>
            <a:off x="140475" y="4112575"/>
            <a:ext cx="2658949" cy="861823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6"/>
          <p:cNvSpPr/>
          <p:nvPr/>
        </p:nvSpPr>
        <p:spPr>
          <a:xfrm>
            <a:off x="7009833" y="2188350"/>
            <a:ext cx="684300" cy="8658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6"/>
          <p:cNvSpPr/>
          <p:nvPr/>
        </p:nvSpPr>
        <p:spPr>
          <a:xfrm>
            <a:off x="3847075" y="2557350"/>
            <a:ext cx="3161700" cy="1062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26"/>
          <p:cNvSpPr/>
          <p:nvPr/>
        </p:nvSpPr>
        <p:spPr>
          <a:xfrm rot="-5400000">
            <a:off x="3738625" y="2351411"/>
            <a:ext cx="314400" cy="975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"/>
          <p:cNvSpPr/>
          <p:nvPr/>
        </p:nvSpPr>
        <p:spPr>
          <a:xfrm>
            <a:off x="3944575" y="2242961"/>
            <a:ext cx="282000" cy="990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6"/>
          <p:cNvSpPr/>
          <p:nvPr/>
        </p:nvSpPr>
        <p:spPr>
          <a:xfrm rot="-5400000">
            <a:off x="4578369" y="1374263"/>
            <a:ext cx="174300" cy="975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6"/>
          <p:cNvSpPr/>
          <p:nvPr/>
        </p:nvSpPr>
        <p:spPr>
          <a:xfrm>
            <a:off x="4524525" y="1236869"/>
            <a:ext cx="282000" cy="990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6"/>
          <p:cNvSpPr/>
          <p:nvPr/>
        </p:nvSpPr>
        <p:spPr>
          <a:xfrm rot="-5400000">
            <a:off x="6730025" y="1703100"/>
            <a:ext cx="860700" cy="1098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6"/>
          <p:cNvSpPr/>
          <p:nvPr/>
        </p:nvSpPr>
        <p:spPr>
          <a:xfrm>
            <a:off x="6973325" y="1236875"/>
            <a:ext cx="374100" cy="99000"/>
          </a:xfrm>
          <a:prstGeom prst="rect">
            <a:avLst/>
          </a:prstGeom>
          <a:solidFill>
            <a:srgbClr val="9553DC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231" name="Google Shape;231;p27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Scenario</a:t>
            </a:r>
            <a:endParaRPr sz="1300">
              <a:solidFill>
                <a:schemeClr val="dk1"/>
              </a:solidFill>
            </a:endParaRPr>
          </a:p>
        </p:txBody>
      </p:sp>
      <p:graphicFrame>
        <p:nvGraphicFramePr>
          <p:cNvPr id="232" name="Google Shape;232;p27"/>
          <p:cNvGraphicFramePr/>
          <p:nvPr/>
        </p:nvGraphicFramePr>
        <p:xfrm>
          <a:off x="1838325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95300"/>
                <a:gridCol w="800100"/>
                <a:gridCol w="714375"/>
                <a:gridCol w="1333500"/>
                <a:gridCol w="2581275"/>
              </a:tblGrid>
              <a:tr h="2991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1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11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004182b3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add, x5, x3, x4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x3(3) + x4(4) = x5(7)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405201b3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sub, x3, x4, x5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x4(4) - x5(7) = x3(-3)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10001537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U-type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lui x10, 65536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x10(65536 = 0x’1000_0’000)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12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00352023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sw x3, 0(x10)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mem[x10(1000_0000)+0] = x3(-3)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16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00118293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addi x5, x3, 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x3(-3) + 1 = x5(-2)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95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20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00108463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B-type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beq, x1, x1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x1(1) = x1(1) -&gt; next PC = 20+8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24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00450513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I-type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addi, x10, x10, 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x10(1000_0000) + 4 = x10(1000_0004)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28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008002ef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J-type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jal, x5, 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x5(28+4), next PC = 28+8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32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00450513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I-type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addi, x10, x10, 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/>
                        <a:t>x10(1000_0000) + 4 = x10(1000_0004)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86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100"/>
                        <a:t>36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00052283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IL-type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lw, x5, 0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</a:rPr>
                        <a:t>mem[x10(1000_0000)+0]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238" name="Google Shape;238;p28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1: control signal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39" name="Google Shape;239;p28" title="그림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98088"/>
            <a:ext cx="8839201" cy="277862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8"/>
          <p:cNvCxnSpPr/>
          <p:nvPr/>
        </p:nvCxnSpPr>
        <p:spPr>
          <a:xfrm>
            <a:off x="2803938" y="1824625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1" name="Google Shape;241;p28"/>
          <p:cNvCxnSpPr/>
          <p:nvPr/>
        </p:nvCxnSpPr>
        <p:spPr>
          <a:xfrm>
            <a:off x="449075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2" name="Google Shape;242;p28"/>
          <p:cNvCxnSpPr/>
          <p:nvPr/>
        </p:nvCxnSpPr>
        <p:spPr>
          <a:xfrm>
            <a:off x="618165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3" name="Google Shape;243;p28"/>
          <p:cNvCxnSpPr/>
          <p:nvPr/>
        </p:nvCxnSpPr>
        <p:spPr>
          <a:xfrm>
            <a:off x="7872575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244" name="Google Shape;244;p28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004182b3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add, x5, x3, x4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x3(3) + x4(4) = x5(7)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405201b3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sub, x3, x4, x5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x4(4) - x5(7)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10001537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U-type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lui x10, 65536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x10(65536 = 0x’1000_0’000)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" name="Google Shape;245;p28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46" name="Google Shape;246;p28"/>
          <p:cNvSpPr txBox="1"/>
          <p:nvPr/>
        </p:nvSpPr>
        <p:spPr>
          <a:xfrm>
            <a:off x="3410050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247" name="Google Shape;247;p28"/>
          <p:cNvCxnSpPr/>
          <p:nvPr/>
        </p:nvCxnSpPr>
        <p:spPr>
          <a:xfrm>
            <a:off x="3357200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8" name="Google Shape;248;p28"/>
          <p:cNvCxnSpPr/>
          <p:nvPr/>
        </p:nvCxnSpPr>
        <p:spPr>
          <a:xfrm>
            <a:off x="3940375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49" name="Google Shape;249;p28"/>
          <p:cNvCxnSpPr/>
          <p:nvPr/>
        </p:nvCxnSpPr>
        <p:spPr>
          <a:xfrm>
            <a:off x="5041125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0" name="Google Shape;250;p28"/>
          <p:cNvCxnSpPr/>
          <p:nvPr/>
        </p:nvCxnSpPr>
        <p:spPr>
          <a:xfrm>
            <a:off x="5624300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1" name="Google Shape;251;p28"/>
          <p:cNvCxnSpPr/>
          <p:nvPr/>
        </p:nvCxnSpPr>
        <p:spPr>
          <a:xfrm>
            <a:off x="6735525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52" name="Google Shape;252;p28"/>
          <p:cNvCxnSpPr/>
          <p:nvPr/>
        </p:nvCxnSpPr>
        <p:spPr>
          <a:xfrm>
            <a:off x="7318700" y="2689125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53" name="Google Shape;253;p28"/>
          <p:cNvSpPr txBox="1"/>
          <p:nvPr/>
        </p:nvSpPr>
        <p:spPr>
          <a:xfrm>
            <a:off x="5098888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6789800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262" name="Google Shape;262;p29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1: register load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63" name="Google Shape;263;p29" title="그림0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17750"/>
            <a:ext cx="8839201" cy="27372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4" name="Google Shape;264;p29"/>
          <p:cNvCxnSpPr/>
          <p:nvPr/>
        </p:nvCxnSpPr>
        <p:spPr>
          <a:xfrm>
            <a:off x="2803938" y="1911225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5" name="Google Shape;265;p29"/>
          <p:cNvCxnSpPr/>
          <p:nvPr/>
        </p:nvCxnSpPr>
        <p:spPr>
          <a:xfrm>
            <a:off x="4490750" y="19112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6" name="Google Shape;266;p29"/>
          <p:cNvCxnSpPr/>
          <p:nvPr/>
        </p:nvCxnSpPr>
        <p:spPr>
          <a:xfrm>
            <a:off x="6173778" y="19112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67" name="Google Shape;267;p29"/>
          <p:cNvCxnSpPr/>
          <p:nvPr/>
        </p:nvCxnSpPr>
        <p:spPr>
          <a:xfrm>
            <a:off x="7848959" y="19112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268" name="Google Shape;268;p29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004182b3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add, x5, x3, x4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x3(3) + x4(4) = x5(7)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405201b3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sub, x3, x4, x5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x4(4) - x5(7)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10001537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U-type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lui x10, 65536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x10(65536 = 0x’1000_0’000)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9" name="Google Shape;269;p29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3410050" y="16916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271" name="Google Shape;271;p29"/>
          <p:cNvCxnSpPr/>
          <p:nvPr/>
        </p:nvCxnSpPr>
        <p:spPr>
          <a:xfrm>
            <a:off x="3357200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2" name="Google Shape;272;p29"/>
          <p:cNvCxnSpPr/>
          <p:nvPr/>
        </p:nvCxnSpPr>
        <p:spPr>
          <a:xfrm>
            <a:off x="3940375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29"/>
          <p:cNvCxnSpPr/>
          <p:nvPr/>
        </p:nvCxnSpPr>
        <p:spPr>
          <a:xfrm>
            <a:off x="5041125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4" name="Google Shape;274;p29"/>
          <p:cNvCxnSpPr/>
          <p:nvPr/>
        </p:nvCxnSpPr>
        <p:spPr>
          <a:xfrm>
            <a:off x="5624300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5" name="Google Shape;275;p29"/>
          <p:cNvCxnSpPr/>
          <p:nvPr/>
        </p:nvCxnSpPr>
        <p:spPr>
          <a:xfrm>
            <a:off x="6735525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76" name="Google Shape;276;p29"/>
          <p:cNvCxnSpPr/>
          <p:nvPr/>
        </p:nvCxnSpPr>
        <p:spPr>
          <a:xfrm>
            <a:off x="7318700" y="2511150"/>
            <a:ext cx="0" cy="23256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277" name="Google Shape;277;p29"/>
          <p:cNvSpPr txBox="1"/>
          <p:nvPr/>
        </p:nvSpPr>
        <p:spPr>
          <a:xfrm>
            <a:off x="5098888" y="16916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78" name="Google Shape;278;p29"/>
          <p:cNvSpPr txBox="1"/>
          <p:nvPr/>
        </p:nvSpPr>
        <p:spPr>
          <a:xfrm>
            <a:off x="6789800" y="16916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79" name="Google Shape;279;p29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80" name="Google Shape;280;p29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281" name="Google Shape;281;p29"/>
          <p:cNvSpPr/>
          <p:nvPr/>
        </p:nvSpPr>
        <p:spPr>
          <a:xfrm>
            <a:off x="3168200" y="311717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9"/>
          <p:cNvSpPr/>
          <p:nvPr/>
        </p:nvSpPr>
        <p:spPr>
          <a:xfrm>
            <a:off x="3156625" y="345557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9"/>
          <p:cNvSpPr/>
          <p:nvPr/>
        </p:nvSpPr>
        <p:spPr>
          <a:xfrm>
            <a:off x="3751375" y="42821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9"/>
          <p:cNvSpPr/>
          <p:nvPr/>
        </p:nvSpPr>
        <p:spPr>
          <a:xfrm>
            <a:off x="6557238" y="28623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29"/>
          <p:cNvSpPr/>
          <p:nvPr/>
        </p:nvSpPr>
        <p:spPr>
          <a:xfrm>
            <a:off x="5418450" y="42821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29"/>
          <p:cNvSpPr/>
          <p:nvPr/>
        </p:nvSpPr>
        <p:spPr>
          <a:xfrm>
            <a:off x="4868525" y="311717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9"/>
          <p:cNvSpPr/>
          <p:nvPr/>
        </p:nvSpPr>
        <p:spPr>
          <a:xfrm>
            <a:off x="4868525" y="345557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293" name="Google Shape;293;p30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1: register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294" name="Google Shape;294;p30" title="그림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91775"/>
            <a:ext cx="8839201" cy="295099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5" name="Google Shape;295;p30"/>
          <p:cNvCxnSpPr/>
          <p:nvPr/>
        </p:nvCxnSpPr>
        <p:spPr>
          <a:xfrm>
            <a:off x="2803938" y="1824625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0"/>
          <p:cNvCxnSpPr/>
          <p:nvPr/>
        </p:nvCxnSpPr>
        <p:spPr>
          <a:xfrm>
            <a:off x="449075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0"/>
          <p:cNvCxnSpPr/>
          <p:nvPr/>
        </p:nvCxnSpPr>
        <p:spPr>
          <a:xfrm>
            <a:off x="618165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298" name="Google Shape;298;p30"/>
          <p:cNvCxnSpPr/>
          <p:nvPr/>
        </p:nvCxnSpPr>
        <p:spPr>
          <a:xfrm>
            <a:off x="7872575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299" name="Google Shape;299;p30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004182b3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add, x5, x3, x4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x3(3) + x4(4) = x5(7)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405201b3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sub, x3, x4, x5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x4(4) - x5(7)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10001537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U-type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lui x10, 65536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x10(65536 = 0x’1000_0’000)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00" name="Google Shape;300;p30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3410050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5098888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3" name="Google Shape;303;p30"/>
          <p:cNvSpPr txBox="1"/>
          <p:nvPr/>
        </p:nvSpPr>
        <p:spPr>
          <a:xfrm>
            <a:off x="6789800" y="16050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4" name="Google Shape;304;p30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5" name="Google Shape;305;p30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06" name="Google Shape;306;p30"/>
          <p:cNvSpPr/>
          <p:nvPr/>
        </p:nvSpPr>
        <p:spPr>
          <a:xfrm>
            <a:off x="3928075" y="2408800"/>
            <a:ext cx="5667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0"/>
          <p:cNvSpPr/>
          <p:nvPr/>
        </p:nvSpPr>
        <p:spPr>
          <a:xfrm>
            <a:off x="4383000" y="36091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 rot="3999539">
            <a:off x="3921121" y="2959919"/>
            <a:ext cx="887424" cy="1967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5612675" y="2408800"/>
            <a:ext cx="5667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6062750" y="33022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 rot="3595214">
            <a:off x="5691372" y="2830060"/>
            <a:ext cx="630281" cy="21683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7292425" y="2408800"/>
            <a:ext cx="5667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7813350" y="42941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 rot="4460707">
            <a:off x="7142699" y="3333931"/>
            <a:ext cx="1519777" cy="19792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320" name="Google Shape;320;p31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1: memory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21" name="Google Shape;321;p31" title="그림0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87125"/>
            <a:ext cx="8839201" cy="3268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2" name="Google Shape;322;p31"/>
          <p:cNvCxnSpPr/>
          <p:nvPr/>
        </p:nvCxnSpPr>
        <p:spPr>
          <a:xfrm>
            <a:off x="2803950" y="1605039"/>
            <a:ext cx="0" cy="3306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1"/>
          <p:cNvCxnSpPr/>
          <p:nvPr/>
        </p:nvCxnSpPr>
        <p:spPr>
          <a:xfrm>
            <a:off x="4490758" y="1605025"/>
            <a:ext cx="0" cy="3306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1"/>
          <p:cNvCxnSpPr/>
          <p:nvPr/>
        </p:nvCxnSpPr>
        <p:spPr>
          <a:xfrm>
            <a:off x="6181654" y="1605025"/>
            <a:ext cx="0" cy="3306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1"/>
          <p:cNvCxnSpPr/>
          <p:nvPr/>
        </p:nvCxnSpPr>
        <p:spPr>
          <a:xfrm>
            <a:off x="7872575" y="1605025"/>
            <a:ext cx="0" cy="3306900"/>
          </a:xfrm>
          <a:prstGeom prst="straightConnector1">
            <a:avLst/>
          </a:prstGeom>
          <a:noFill/>
          <a:ln cap="flat" cmpd="sng" w="19050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graphicFrame>
        <p:nvGraphicFramePr>
          <p:cNvPr id="326" name="Google Shape;326;p31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004182b3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add, x5, x3, x4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x3(3) + x4(4) = x5(7)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405201b3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R-type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sub, x3, x4, x5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x4(4) - x5(7)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10001537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U-type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lui x10, 65536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x10(65536 = 0x’1000_0’000)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7" name="Google Shape;327;p31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28" name="Google Shape;328;p31"/>
          <p:cNvSpPr txBox="1"/>
          <p:nvPr/>
        </p:nvSpPr>
        <p:spPr>
          <a:xfrm>
            <a:off x="3410050" y="1420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➀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329" name="Google Shape;329;p31"/>
          <p:cNvCxnSpPr/>
          <p:nvPr/>
        </p:nvCxnSpPr>
        <p:spPr>
          <a:xfrm>
            <a:off x="3357200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0" name="Google Shape;330;p31"/>
          <p:cNvCxnSpPr/>
          <p:nvPr/>
        </p:nvCxnSpPr>
        <p:spPr>
          <a:xfrm>
            <a:off x="3940375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31"/>
          <p:cNvCxnSpPr/>
          <p:nvPr/>
        </p:nvCxnSpPr>
        <p:spPr>
          <a:xfrm>
            <a:off x="5041125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31"/>
          <p:cNvCxnSpPr/>
          <p:nvPr/>
        </p:nvCxnSpPr>
        <p:spPr>
          <a:xfrm>
            <a:off x="5624300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31"/>
          <p:cNvCxnSpPr/>
          <p:nvPr/>
        </p:nvCxnSpPr>
        <p:spPr>
          <a:xfrm>
            <a:off x="6735525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31"/>
          <p:cNvCxnSpPr/>
          <p:nvPr/>
        </p:nvCxnSpPr>
        <p:spPr>
          <a:xfrm>
            <a:off x="7318700" y="2204125"/>
            <a:ext cx="0" cy="27078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35" name="Google Shape;335;p31"/>
          <p:cNvSpPr txBox="1"/>
          <p:nvPr/>
        </p:nvSpPr>
        <p:spPr>
          <a:xfrm>
            <a:off x="5098888" y="1420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6789800" y="1420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➁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➂</a:t>
            </a:r>
            <a:endParaRPr b="1" sz="2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344" name="Google Shape;344;p32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2: control signal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45" name="Google Shape;345;p32" title="그림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6900"/>
            <a:ext cx="8839201" cy="270967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46" name="Google Shape;346;p32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00352023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 x3, 0(x10)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00118293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addi x5, x3, 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x3(-3) + 1 = x5(-2)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00108463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beq, x1, x1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x1(1) = x1(1) -&gt; next PC = 20+8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47" name="Google Shape;347;p32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48" name="Google Shape;348;p32"/>
          <p:cNvSpPr txBox="1"/>
          <p:nvPr/>
        </p:nvSpPr>
        <p:spPr>
          <a:xfrm>
            <a:off x="3346675" y="145090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49" name="Google Shape;349;p32"/>
          <p:cNvSpPr txBox="1"/>
          <p:nvPr/>
        </p:nvSpPr>
        <p:spPr>
          <a:xfrm>
            <a:off x="5960688" y="1448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50" name="Google Shape;350;p32"/>
          <p:cNvSpPr txBox="1"/>
          <p:nvPr/>
        </p:nvSpPr>
        <p:spPr>
          <a:xfrm>
            <a:off x="7610063" y="1448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51" name="Google Shape;351;p32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52" name="Google Shape;352;p32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353" name="Google Shape;353;p32"/>
          <p:cNvCxnSpPr/>
          <p:nvPr/>
        </p:nvCxnSpPr>
        <p:spPr>
          <a:xfrm>
            <a:off x="2069038" y="1738938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2"/>
          <p:cNvCxnSpPr/>
          <p:nvPr/>
        </p:nvCxnSpPr>
        <p:spPr>
          <a:xfrm>
            <a:off x="5368888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2"/>
          <p:cNvCxnSpPr/>
          <p:nvPr/>
        </p:nvCxnSpPr>
        <p:spPr>
          <a:xfrm>
            <a:off x="702710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2"/>
          <p:cNvCxnSpPr/>
          <p:nvPr/>
        </p:nvCxnSpPr>
        <p:spPr>
          <a:xfrm>
            <a:off x="8667625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2"/>
          <p:cNvCxnSpPr/>
          <p:nvPr/>
        </p:nvCxnSpPr>
        <p:spPr>
          <a:xfrm>
            <a:off x="2640850" y="25717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2"/>
          <p:cNvCxnSpPr/>
          <p:nvPr/>
        </p:nvCxnSpPr>
        <p:spPr>
          <a:xfrm>
            <a:off x="3176800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2"/>
          <p:cNvCxnSpPr/>
          <p:nvPr/>
        </p:nvCxnSpPr>
        <p:spPr>
          <a:xfrm>
            <a:off x="5914900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2"/>
          <p:cNvCxnSpPr/>
          <p:nvPr/>
        </p:nvCxnSpPr>
        <p:spPr>
          <a:xfrm>
            <a:off x="6482325" y="253170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2"/>
          <p:cNvCxnSpPr/>
          <p:nvPr/>
        </p:nvCxnSpPr>
        <p:spPr>
          <a:xfrm>
            <a:off x="7575631" y="25717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2"/>
          <p:cNvCxnSpPr/>
          <p:nvPr/>
        </p:nvCxnSpPr>
        <p:spPr>
          <a:xfrm>
            <a:off x="8129500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2"/>
          <p:cNvCxnSpPr/>
          <p:nvPr/>
        </p:nvCxnSpPr>
        <p:spPr>
          <a:xfrm>
            <a:off x="3734563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369" name="Google Shape;369;p33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2: register load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370" name="Google Shape;370;p33" title="그림0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07525"/>
            <a:ext cx="8839201" cy="28199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71" name="Google Shape;371;p33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00352023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 x3, 0(x10)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00118293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addi x5, x3, 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x3(-3) + 1 = x5(-2)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00108463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beq, x1, x1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x1(1) = x1(1) -&gt; next PC = 20+8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72" name="Google Shape;372;p33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73" name="Google Shape;373;p33"/>
          <p:cNvSpPr txBox="1"/>
          <p:nvPr/>
        </p:nvSpPr>
        <p:spPr>
          <a:xfrm>
            <a:off x="3346675" y="145090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5960688" y="1448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7610063" y="14484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378" name="Google Shape;378;p33"/>
          <p:cNvCxnSpPr/>
          <p:nvPr/>
        </p:nvCxnSpPr>
        <p:spPr>
          <a:xfrm>
            <a:off x="2069038" y="1738938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33"/>
          <p:cNvCxnSpPr/>
          <p:nvPr/>
        </p:nvCxnSpPr>
        <p:spPr>
          <a:xfrm>
            <a:off x="5368888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33"/>
          <p:cNvCxnSpPr/>
          <p:nvPr/>
        </p:nvCxnSpPr>
        <p:spPr>
          <a:xfrm>
            <a:off x="7027100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33"/>
          <p:cNvCxnSpPr/>
          <p:nvPr/>
        </p:nvCxnSpPr>
        <p:spPr>
          <a:xfrm>
            <a:off x="8667625" y="1824613"/>
            <a:ext cx="0" cy="29256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33"/>
          <p:cNvCxnSpPr/>
          <p:nvPr/>
        </p:nvCxnSpPr>
        <p:spPr>
          <a:xfrm>
            <a:off x="2640850" y="25717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33"/>
          <p:cNvCxnSpPr/>
          <p:nvPr/>
        </p:nvCxnSpPr>
        <p:spPr>
          <a:xfrm>
            <a:off x="3176800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33"/>
          <p:cNvCxnSpPr/>
          <p:nvPr/>
        </p:nvCxnSpPr>
        <p:spPr>
          <a:xfrm>
            <a:off x="5914900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33"/>
          <p:cNvCxnSpPr/>
          <p:nvPr/>
        </p:nvCxnSpPr>
        <p:spPr>
          <a:xfrm>
            <a:off x="6482325" y="253170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33"/>
          <p:cNvCxnSpPr/>
          <p:nvPr/>
        </p:nvCxnSpPr>
        <p:spPr>
          <a:xfrm>
            <a:off x="7557706" y="25717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33"/>
          <p:cNvCxnSpPr/>
          <p:nvPr/>
        </p:nvCxnSpPr>
        <p:spPr>
          <a:xfrm>
            <a:off x="8099125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33"/>
          <p:cNvCxnSpPr/>
          <p:nvPr/>
        </p:nvCxnSpPr>
        <p:spPr>
          <a:xfrm>
            <a:off x="3734563" y="2603550"/>
            <a:ext cx="0" cy="2061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389" name="Google Shape;389;p33"/>
          <p:cNvSpPr/>
          <p:nvPr/>
        </p:nvSpPr>
        <p:spPr>
          <a:xfrm>
            <a:off x="2433925" y="31644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33"/>
          <p:cNvSpPr/>
          <p:nvPr/>
        </p:nvSpPr>
        <p:spPr>
          <a:xfrm>
            <a:off x="2433925" y="28584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33"/>
          <p:cNvSpPr/>
          <p:nvPr/>
        </p:nvSpPr>
        <p:spPr>
          <a:xfrm>
            <a:off x="2987800" y="42202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33"/>
          <p:cNvSpPr/>
          <p:nvPr/>
        </p:nvSpPr>
        <p:spPr>
          <a:xfrm>
            <a:off x="5725888" y="311822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33"/>
          <p:cNvSpPr/>
          <p:nvPr/>
        </p:nvSpPr>
        <p:spPr>
          <a:xfrm>
            <a:off x="2433925" y="34330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3"/>
          <p:cNvSpPr/>
          <p:nvPr/>
        </p:nvSpPr>
        <p:spPr>
          <a:xfrm>
            <a:off x="6281988" y="42543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5725888" y="28859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3"/>
          <p:cNvSpPr/>
          <p:nvPr/>
        </p:nvSpPr>
        <p:spPr>
          <a:xfrm>
            <a:off x="7368688" y="28859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3"/>
          <p:cNvSpPr/>
          <p:nvPr/>
        </p:nvSpPr>
        <p:spPr>
          <a:xfrm>
            <a:off x="7368688" y="31644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3"/>
          <p:cNvSpPr/>
          <p:nvPr/>
        </p:nvSpPr>
        <p:spPr>
          <a:xfrm>
            <a:off x="7374100" y="34330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404" name="Google Shape;404;p34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2: register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05" name="Google Shape;405;p34" title="그림0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55625"/>
            <a:ext cx="8839201" cy="326126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6" name="Google Shape;406;p34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00352023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 x3, 0(x10)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00118293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addi x5, x3, 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x3(-3) + 1 = x5(-2)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00108463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beq, x1, x1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x1(1) = x1(1) -&gt; next PC = 20+8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07" name="Google Shape;407;p34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3338800" y="13738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09" name="Google Shape;409;p34"/>
          <p:cNvSpPr txBox="1"/>
          <p:nvPr/>
        </p:nvSpPr>
        <p:spPr>
          <a:xfrm>
            <a:off x="5952813" y="137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10" name="Google Shape;410;p34"/>
          <p:cNvSpPr txBox="1"/>
          <p:nvPr/>
        </p:nvSpPr>
        <p:spPr>
          <a:xfrm>
            <a:off x="7602188" y="137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11" name="Google Shape;411;p34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12" name="Google Shape;412;p34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413" name="Google Shape;413;p34"/>
          <p:cNvCxnSpPr/>
          <p:nvPr/>
        </p:nvCxnSpPr>
        <p:spPr>
          <a:xfrm>
            <a:off x="2069050" y="1738950"/>
            <a:ext cx="0" cy="299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34"/>
          <p:cNvCxnSpPr/>
          <p:nvPr/>
        </p:nvCxnSpPr>
        <p:spPr>
          <a:xfrm>
            <a:off x="5368894" y="1826522"/>
            <a:ext cx="0" cy="299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34"/>
          <p:cNvCxnSpPr/>
          <p:nvPr/>
        </p:nvCxnSpPr>
        <p:spPr>
          <a:xfrm>
            <a:off x="7011359" y="1826522"/>
            <a:ext cx="0" cy="299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34"/>
          <p:cNvCxnSpPr/>
          <p:nvPr/>
        </p:nvCxnSpPr>
        <p:spPr>
          <a:xfrm>
            <a:off x="8667625" y="1826522"/>
            <a:ext cx="0" cy="2990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34"/>
          <p:cNvCxnSpPr/>
          <p:nvPr/>
        </p:nvCxnSpPr>
        <p:spPr>
          <a:xfrm>
            <a:off x="2640850" y="2324494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34"/>
          <p:cNvCxnSpPr/>
          <p:nvPr/>
        </p:nvCxnSpPr>
        <p:spPr>
          <a:xfrm>
            <a:off x="3176800" y="2363813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34"/>
          <p:cNvCxnSpPr/>
          <p:nvPr/>
        </p:nvCxnSpPr>
        <p:spPr>
          <a:xfrm>
            <a:off x="5914900" y="2363813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34"/>
          <p:cNvCxnSpPr/>
          <p:nvPr/>
        </p:nvCxnSpPr>
        <p:spPr>
          <a:xfrm>
            <a:off x="6482325" y="2274975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34"/>
          <p:cNvCxnSpPr/>
          <p:nvPr/>
        </p:nvCxnSpPr>
        <p:spPr>
          <a:xfrm>
            <a:off x="7575631" y="2324494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34"/>
          <p:cNvCxnSpPr/>
          <p:nvPr/>
        </p:nvCxnSpPr>
        <p:spPr>
          <a:xfrm>
            <a:off x="8129500" y="2363813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34"/>
          <p:cNvCxnSpPr/>
          <p:nvPr/>
        </p:nvCxnSpPr>
        <p:spPr>
          <a:xfrm>
            <a:off x="3734563" y="2363813"/>
            <a:ext cx="0" cy="25485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24" name="Google Shape;424;p34"/>
          <p:cNvSpPr/>
          <p:nvPr/>
        </p:nvSpPr>
        <p:spPr>
          <a:xfrm>
            <a:off x="6460900" y="2274975"/>
            <a:ext cx="5667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34"/>
          <p:cNvSpPr/>
          <p:nvPr/>
        </p:nvSpPr>
        <p:spPr>
          <a:xfrm>
            <a:off x="6876450" y="35540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4"/>
          <p:cNvSpPr/>
          <p:nvPr/>
        </p:nvSpPr>
        <p:spPr>
          <a:xfrm rot="4595833">
            <a:off x="6346908" y="2909764"/>
            <a:ext cx="1006924" cy="181623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34"/>
          <p:cNvSpPr/>
          <p:nvPr/>
        </p:nvSpPr>
        <p:spPr>
          <a:xfrm>
            <a:off x="3703075" y="2300859"/>
            <a:ext cx="1665900" cy="1629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34"/>
          <p:cNvSpPr/>
          <p:nvPr/>
        </p:nvSpPr>
        <p:spPr>
          <a:xfrm>
            <a:off x="5232300" y="32886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4"/>
          <p:cNvSpPr/>
          <p:nvPr/>
        </p:nvSpPr>
        <p:spPr>
          <a:xfrm rot="2697722">
            <a:off x="4398215" y="2803190"/>
            <a:ext cx="960322" cy="20322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435" name="Google Shape;435;p35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2: memory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36" name="Google Shape;436;p35" title="그림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82450"/>
            <a:ext cx="8839201" cy="34681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37" name="Google Shape;437;p35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00352023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 x3, 0(x10)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 = x3(-3)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16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00118293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addi x5, x3, 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x3(-3) + 1 = x5(-2)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20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00108463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beq, x1, x1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x1(1) = x1(1) -&gt; next PC = 20+8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8" name="Google Shape;438;p35"/>
          <p:cNvSpPr txBox="1"/>
          <p:nvPr/>
        </p:nvSpPr>
        <p:spPr>
          <a:xfrm>
            <a:off x="3703075" y="2982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39" name="Google Shape;439;p35"/>
          <p:cNvSpPr txBox="1"/>
          <p:nvPr/>
        </p:nvSpPr>
        <p:spPr>
          <a:xfrm>
            <a:off x="3354550" y="13738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➃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40" name="Google Shape;440;p35"/>
          <p:cNvSpPr txBox="1"/>
          <p:nvPr/>
        </p:nvSpPr>
        <p:spPr>
          <a:xfrm>
            <a:off x="5968563" y="137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41" name="Google Shape;441;p35"/>
          <p:cNvSpPr txBox="1"/>
          <p:nvPr/>
        </p:nvSpPr>
        <p:spPr>
          <a:xfrm>
            <a:off x="7617938" y="137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42" name="Google Shape;442;p35"/>
          <p:cNvSpPr txBox="1"/>
          <p:nvPr/>
        </p:nvSpPr>
        <p:spPr>
          <a:xfrm>
            <a:off x="3703063" y="6367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➄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43" name="Google Shape;443;p35"/>
          <p:cNvSpPr txBox="1"/>
          <p:nvPr/>
        </p:nvSpPr>
        <p:spPr>
          <a:xfrm>
            <a:off x="3703075" y="951650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➅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444" name="Google Shape;444;p35"/>
          <p:cNvCxnSpPr/>
          <p:nvPr/>
        </p:nvCxnSpPr>
        <p:spPr>
          <a:xfrm>
            <a:off x="2069050" y="1448450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35"/>
          <p:cNvCxnSpPr/>
          <p:nvPr/>
        </p:nvCxnSpPr>
        <p:spPr>
          <a:xfrm>
            <a:off x="5368894" y="1545243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35"/>
          <p:cNvCxnSpPr/>
          <p:nvPr/>
        </p:nvCxnSpPr>
        <p:spPr>
          <a:xfrm>
            <a:off x="7027103" y="1545243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35"/>
          <p:cNvCxnSpPr/>
          <p:nvPr/>
        </p:nvCxnSpPr>
        <p:spPr>
          <a:xfrm>
            <a:off x="8667625" y="1545243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35"/>
          <p:cNvCxnSpPr/>
          <p:nvPr/>
        </p:nvCxnSpPr>
        <p:spPr>
          <a:xfrm>
            <a:off x="2640850" y="2163773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35"/>
          <p:cNvCxnSpPr/>
          <p:nvPr/>
        </p:nvCxnSpPr>
        <p:spPr>
          <a:xfrm>
            <a:off x="3176800" y="2205775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35"/>
          <p:cNvCxnSpPr/>
          <p:nvPr/>
        </p:nvCxnSpPr>
        <p:spPr>
          <a:xfrm>
            <a:off x="5914900" y="2205775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35"/>
          <p:cNvCxnSpPr/>
          <p:nvPr/>
        </p:nvCxnSpPr>
        <p:spPr>
          <a:xfrm>
            <a:off x="6482325" y="2110875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35"/>
          <p:cNvCxnSpPr/>
          <p:nvPr/>
        </p:nvCxnSpPr>
        <p:spPr>
          <a:xfrm>
            <a:off x="7575631" y="2163773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35"/>
          <p:cNvCxnSpPr/>
          <p:nvPr/>
        </p:nvCxnSpPr>
        <p:spPr>
          <a:xfrm>
            <a:off x="8129500" y="2205775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35"/>
          <p:cNvCxnSpPr/>
          <p:nvPr/>
        </p:nvCxnSpPr>
        <p:spPr>
          <a:xfrm>
            <a:off x="3734563" y="2205775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455" name="Google Shape;455;p35"/>
          <p:cNvSpPr/>
          <p:nvPr/>
        </p:nvSpPr>
        <p:spPr>
          <a:xfrm>
            <a:off x="3712900" y="2110875"/>
            <a:ext cx="1665900" cy="1878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5"/>
          <p:cNvSpPr/>
          <p:nvPr/>
        </p:nvSpPr>
        <p:spPr>
          <a:xfrm>
            <a:off x="5267725" y="4201775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462" name="Google Shape;462;p36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3: control signal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63" name="Google Shape;463;p36" title="그림0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387" y="1691375"/>
            <a:ext cx="7355227" cy="3365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4" name="Google Shape;464;p36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008002ef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jal, x5, 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x5(28+4), next PC = 28+8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00052283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IL-type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lw, x5, 0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65" name="Google Shape;465;p36"/>
          <p:cNvSpPr txBox="1"/>
          <p:nvPr/>
        </p:nvSpPr>
        <p:spPr>
          <a:xfrm>
            <a:off x="3703075" y="6429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3645800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5396188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68" name="Google Shape;468;p36"/>
          <p:cNvSpPr txBox="1"/>
          <p:nvPr/>
        </p:nvSpPr>
        <p:spPr>
          <a:xfrm>
            <a:off x="3703063" y="12801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469" name="Google Shape;469;p36"/>
          <p:cNvCxnSpPr/>
          <p:nvPr/>
        </p:nvCxnSpPr>
        <p:spPr>
          <a:xfrm>
            <a:off x="3399400" y="1776925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36"/>
          <p:cNvCxnSpPr/>
          <p:nvPr/>
        </p:nvCxnSpPr>
        <p:spPr>
          <a:xfrm>
            <a:off x="4436694" y="1721530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36"/>
          <p:cNvCxnSpPr/>
          <p:nvPr/>
        </p:nvCxnSpPr>
        <p:spPr>
          <a:xfrm>
            <a:off x="6830303" y="1721518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36"/>
          <p:cNvCxnSpPr/>
          <p:nvPr/>
        </p:nvCxnSpPr>
        <p:spPr>
          <a:xfrm>
            <a:off x="3735050" y="2699073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36"/>
          <p:cNvCxnSpPr/>
          <p:nvPr/>
        </p:nvCxnSpPr>
        <p:spPr>
          <a:xfrm>
            <a:off x="4073550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36"/>
          <p:cNvCxnSpPr/>
          <p:nvPr/>
        </p:nvCxnSpPr>
        <p:spPr>
          <a:xfrm>
            <a:off x="4774150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36"/>
          <p:cNvCxnSpPr/>
          <p:nvPr/>
        </p:nvCxnSpPr>
        <p:spPr>
          <a:xfrm>
            <a:off x="5104775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36"/>
          <p:cNvCxnSpPr/>
          <p:nvPr/>
        </p:nvCxnSpPr>
        <p:spPr>
          <a:xfrm>
            <a:off x="5459000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36"/>
          <p:cNvCxnSpPr/>
          <p:nvPr/>
        </p:nvCxnSpPr>
        <p:spPr>
          <a:xfrm>
            <a:off x="6482350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36"/>
          <p:cNvCxnSpPr/>
          <p:nvPr/>
        </p:nvCxnSpPr>
        <p:spPr>
          <a:xfrm>
            <a:off x="7175075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36"/>
          <p:cNvCxnSpPr/>
          <p:nvPr/>
        </p:nvCxnSpPr>
        <p:spPr>
          <a:xfrm>
            <a:off x="7505700" y="2649498"/>
            <a:ext cx="0" cy="27219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36"/>
          <p:cNvCxnSpPr/>
          <p:nvPr/>
        </p:nvCxnSpPr>
        <p:spPr>
          <a:xfrm>
            <a:off x="7853653" y="1776918"/>
            <a:ext cx="0" cy="33054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486" name="Google Shape;486;p37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3: register load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487" name="Google Shape;487;p37" title="그림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4538" y="1827000"/>
            <a:ext cx="6454929" cy="31095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88" name="Google Shape;488;p37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008002ef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jal, x5, 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x5(28+4), next PC = 28+8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00052283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IL-type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lw, x5, 0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89" name="Google Shape;489;p37"/>
          <p:cNvSpPr txBox="1"/>
          <p:nvPr/>
        </p:nvSpPr>
        <p:spPr>
          <a:xfrm>
            <a:off x="3703075" y="6429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490" name="Google Shape;490;p37"/>
          <p:cNvSpPr txBox="1"/>
          <p:nvPr/>
        </p:nvSpPr>
        <p:spPr>
          <a:xfrm>
            <a:off x="3703063" y="12801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491" name="Google Shape;491;p37"/>
          <p:cNvCxnSpPr/>
          <p:nvPr/>
        </p:nvCxnSpPr>
        <p:spPr>
          <a:xfrm>
            <a:off x="3556825" y="1865649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2" name="Google Shape;492;p37"/>
          <p:cNvCxnSpPr/>
          <p:nvPr/>
        </p:nvCxnSpPr>
        <p:spPr>
          <a:xfrm>
            <a:off x="4443518" y="186566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3" name="Google Shape;493;p37"/>
          <p:cNvCxnSpPr/>
          <p:nvPr/>
        </p:nvCxnSpPr>
        <p:spPr>
          <a:xfrm>
            <a:off x="6570526" y="1865650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37"/>
          <p:cNvCxnSpPr/>
          <p:nvPr/>
        </p:nvCxnSpPr>
        <p:spPr>
          <a:xfrm>
            <a:off x="3853125" y="2616195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37"/>
          <p:cNvCxnSpPr/>
          <p:nvPr/>
        </p:nvCxnSpPr>
        <p:spPr>
          <a:xfrm>
            <a:off x="4177675" y="26162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6" name="Google Shape;496;p37"/>
          <p:cNvCxnSpPr/>
          <p:nvPr/>
        </p:nvCxnSpPr>
        <p:spPr>
          <a:xfrm>
            <a:off x="4750549" y="26162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7" name="Google Shape;497;p37"/>
          <p:cNvCxnSpPr/>
          <p:nvPr/>
        </p:nvCxnSpPr>
        <p:spPr>
          <a:xfrm>
            <a:off x="5073299" y="26162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8" name="Google Shape;498;p37"/>
          <p:cNvCxnSpPr/>
          <p:nvPr/>
        </p:nvCxnSpPr>
        <p:spPr>
          <a:xfrm>
            <a:off x="5372424" y="26162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499" name="Google Shape;499;p37"/>
          <p:cNvCxnSpPr/>
          <p:nvPr/>
        </p:nvCxnSpPr>
        <p:spPr>
          <a:xfrm>
            <a:off x="6285548" y="26162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0" name="Google Shape;500;p37"/>
          <p:cNvCxnSpPr/>
          <p:nvPr/>
        </p:nvCxnSpPr>
        <p:spPr>
          <a:xfrm>
            <a:off x="6875947" y="26551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1" name="Google Shape;501;p37"/>
          <p:cNvCxnSpPr/>
          <p:nvPr/>
        </p:nvCxnSpPr>
        <p:spPr>
          <a:xfrm>
            <a:off x="7182947" y="26551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02" name="Google Shape;502;p37"/>
          <p:cNvCxnSpPr/>
          <p:nvPr/>
        </p:nvCxnSpPr>
        <p:spPr>
          <a:xfrm>
            <a:off x="7483650" y="186564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03" name="Google Shape;503;p37"/>
          <p:cNvSpPr txBox="1"/>
          <p:nvPr/>
        </p:nvSpPr>
        <p:spPr>
          <a:xfrm>
            <a:off x="3762875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04" name="Google Shape;504;p37"/>
          <p:cNvSpPr txBox="1"/>
          <p:nvPr/>
        </p:nvSpPr>
        <p:spPr>
          <a:xfrm>
            <a:off x="5166688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05" name="Google Shape;505;p37"/>
          <p:cNvSpPr/>
          <p:nvPr/>
        </p:nvSpPr>
        <p:spPr>
          <a:xfrm>
            <a:off x="3678250" y="30063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7"/>
          <p:cNvSpPr/>
          <p:nvPr/>
        </p:nvSpPr>
        <p:spPr>
          <a:xfrm>
            <a:off x="3988675" y="37939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7"/>
          <p:cNvSpPr/>
          <p:nvPr/>
        </p:nvSpPr>
        <p:spPr>
          <a:xfrm>
            <a:off x="4569413" y="30063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7"/>
          <p:cNvSpPr/>
          <p:nvPr/>
        </p:nvSpPr>
        <p:spPr>
          <a:xfrm>
            <a:off x="4872475" y="37939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37"/>
          <p:cNvSpPr/>
          <p:nvPr/>
        </p:nvSpPr>
        <p:spPr>
          <a:xfrm>
            <a:off x="6178050" y="375500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515" name="Google Shape;515;p38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3: register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16" name="Google Shape;516;p38" title="그림1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0649" y="1827000"/>
            <a:ext cx="6262696" cy="323999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17" name="Google Shape;517;p38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008002ef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jal, x5, 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x5(28+4), next PC = 28+8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00052283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IL-type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lw, x5, 0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18" name="Google Shape;518;p38"/>
          <p:cNvSpPr txBox="1"/>
          <p:nvPr/>
        </p:nvSpPr>
        <p:spPr>
          <a:xfrm>
            <a:off x="3703075" y="6429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3703063" y="12801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520" name="Google Shape;520;p38"/>
          <p:cNvCxnSpPr/>
          <p:nvPr/>
        </p:nvCxnSpPr>
        <p:spPr>
          <a:xfrm>
            <a:off x="3604800" y="1865649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1" name="Google Shape;521;p38"/>
          <p:cNvCxnSpPr/>
          <p:nvPr/>
        </p:nvCxnSpPr>
        <p:spPr>
          <a:xfrm>
            <a:off x="4459293" y="186566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2" name="Google Shape;522;p38"/>
          <p:cNvCxnSpPr/>
          <p:nvPr/>
        </p:nvCxnSpPr>
        <p:spPr>
          <a:xfrm>
            <a:off x="6507551" y="1858650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3" name="Google Shape;523;p38"/>
          <p:cNvCxnSpPr/>
          <p:nvPr/>
        </p:nvCxnSpPr>
        <p:spPr>
          <a:xfrm>
            <a:off x="3861050" y="2571745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4" name="Google Shape;524;p38"/>
          <p:cNvCxnSpPr/>
          <p:nvPr/>
        </p:nvCxnSpPr>
        <p:spPr>
          <a:xfrm>
            <a:off x="4174325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8"/>
          <p:cNvCxnSpPr/>
          <p:nvPr/>
        </p:nvCxnSpPr>
        <p:spPr>
          <a:xfrm>
            <a:off x="4774174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8"/>
          <p:cNvCxnSpPr/>
          <p:nvPr/>
        </p:nvCxnSpPr>
        <p:spPr>
          <a:xfrm>
            <a:off x="5049674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7" name="Google Shape;527;p38"/>
          <p:cNvCxnSpPr/>
          <p:nvPr/>
        </p:nvCxnSpPr>
        <p:spPr>
          <a:xfrm>
            <a:off x="5333074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8" name="Google Shape;528;p38"/>
          <p:cNvCxnSpPr/>
          <p:nvPr/>
        </p:nvCxnSpPr>
        <p:spPr>
          <a:xfrm>
            <a:off x="6222573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29" name="Google Shape;529;p38"/>
          <p:cNvCxnSpPr/>
          <p:nvPr/>
        </p:nvCxnSpPr>
        <p:spPr>
          <a:xfrm>
            <a:off x="6805097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0" name="Google Shape;530;p38"/>
          <p:cNvCxnSpPr/>
          <p:nvPr/>
        </p:nvCxnSpPr>
        <p:spPr>
          <a:xfrm>
            <a:off x="7104222" y="257175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31" name="Google Shape;531;p38"/>
          <p:cNvCxnSpPr/>
          <p:nvPr/>
        </p:nvCxnSpPr>
        <p:spPr>
          <a:xfrm>
            <a:off x="7389200" y="185864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32" name="Google Shape;532;p38"/>
          <p:cNvSpPr txBox="1"/>
          <p:nvPr/>
        </p:nvSpPr>
        <p:spPr>
          <a:xfrm>
            <a:off x="3762875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33" name="Google Shape;533;p38"/>
          <p:cNvSpPr txBox="1"/>
          <p:nvPr/>
        </p:nvSpPr>
        <p:spPr>
          <a:xfrm>
            <a:off x="5166688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34" name="Google Shape;534;p38"/>
          <p:cNvSpPr/>
          <p:nvPr/>
        </p:nvSpPr>
        <p:spPr>
          <a:xfrm>
            <a:off x="4135025" y="2545200"/>
            <a:ext cx="359100" cy="1662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8"/>
          <p:cNvSpPr/>
          <p:nvPr/>
        </p:nvSpPr>
        <p:spPr>
          <a:xfrm>
            <a:off x="4335500" y="3781550"/>
            <a:ext cx="378000" cy="3384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38"/>
          <p:cNvSpPr/>
          <p:nvPr/>
        </p:nvSpPr>
        <p:spPr>
          <a:xfrm rot="4607503">
            <a:off x="3884740" y="3179645"/>
            <a:ext cx="976841" cy="133679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38"/>
          <p:cNvSpPr/>
          <p:nvPr/>
        </p:nvSpPr>
        <p:spPr>
          <a:xfrm>
            <a:off x="5324688" y="4514000"/>
            <a:ext cx="1205400" cy="219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Simulation</a:t>
            </a:r>
            <a:endParaRPr b="1"/>
          </a:p>
        </p:txBody>
      </p:sp>
      <p:sp>
        <p:nvSpPr>
          <p:cNvPr id="543" name="Google Shape;543;p39"/>
          <p:cNvSpPr txBox="1"/>
          <p:nvPr/>
        </p:nvSpPr>
        <p:spPr>
          <a:xfrm>
            <a:off x="311700" y="845150"/>
            <a:ext cx="4125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Result 3: memory update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544" name="Google Shape;544;p39" title="그림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863" y="1776925"/>
            <a:ext cx="5872274" cy="32217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45" name="Google Shape;545;p39"/>
          <p:cNvGraphicFramePr/>
          <p:nvPr/>
        </p:nvGraphicFramePr>
        <p:xfrm>
          <a:off x="4177675" y="91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435525"/>
                <a:gridCol w="654525"/>
                <a:gridCol w="584375"/>
                <a:gridCol w="1090825"/>
                <a:gridCol w="2111575"/>
              </a:tblGrid>
              <a:tr h="229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idx.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hex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type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assembly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900">
                          <a:solidFill>
                            <a:schemeClr val="lt1"/>
                          </a:solidFill>
                        </a:rPr>
                        <a:t>expected result</a:t>
                      </a:r>
                      <a:endParaRPr b="1" sz="9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gradFill>
                      <a:gsLst>
                        <a:gs pos="0">
                          <a:srgbClr val="424242"/>
                        </a:gs>
                        <a:gs pos="100000">
                          <a:srgbClr val="010101"/>
                        </a:gs>
                      </a:gsLst>
                      <a:path path="circle">
                        <a:fillToRect b="50%" l="50%" r="50%" t="50%"/>
                      </a:path>
                      <a:tileRect/>
                    </a:gra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28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008002ef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jal, x5, 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x5(28+4), next PC = 28+8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00450513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I-type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addi, x10, x10, 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/>
                        <a:t>x10(1000_0000) + 4 = x10(1000_0004)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22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/>
                        <a:t>36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00052283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IL-type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lw, x5, 0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mem[x10(1000_0000)+0]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46" name="Google Shape;546;p39"/>
          <p:cNvSpPr txBox="1"/>
          <p:nvPr/>
        </p:nvSpPr>
        <p:spPr>
          <a:xfrm>
            <a:off x="3703075" y="6429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47" name="Google Shape;547;p39"/>
          <p:cNvSpPr txBox="1"/>
          <p:nvPr/>
        </p:nvSpPr>
        <p:spPr>
          <a:xfrm>
            <a:off x="3703063" y="128012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cxnSp>
        <p:nvCxnSpPr>
          <p:cNvPr id="548" name="Google Shape;548;p39"/>
          <p:cNvCxnSpPr/>
          <p:nvPr/>
        </p:nvCxnSpPr>
        <p:spPr>
          <a:xfrm>
            <a:off x="3643425" y="1865649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49" name="Google Shape;549;p39"/>
          <p:cNvCxnSpPr/>
          <p:nvPr/>
        </p:nvCxnSpPr>
        <p:spPr>
          <a:xfrm>
            <a:off x="4459293" y="186566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0" name="Google Shape;550;p39"/>
          <p:cNvCxnSpPr/>
          <p:nvPr/>
        </p:nvCxnSpPr>
        <p:spPr>
          <a:xfrm>
            <a:off x="6397326" y="1865650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1" name="Google Shape;551;p39"/>
          <p:cNvCxnSpPr/>
          <p:nvPr/>
        </p:nvCxnSpPr>
        <p:spPr>
          <a:xfrm>
            <a:off x="3911825" y="2466620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2" name="Google Shape;552;p39"/>
          <p:cNvCxnSpPr/>
          <p:nvPr/>
        </p:nvCxnSpPr>
        <p:spPr>
          <a:xfrm>
            <a:off x="4174325" y="2527502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3" name="Google Shape;553;p39"/>
          <p:cNvCxnSpPr/>
          <p:nvPr/>
        </p:nvCxnSpPr>
        <p:spPr>
          <a:xfrm>
            <a:off x="4734824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4" name="Google Shape;554;p39"/>
          <p:cNvCxnSpPr/>
          <p:nvPr/>
        </p:nvCxnSpPr>
        <p:spPr>
          <a:xfrm>
            <a:off x="5010324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39"/>
          <p:cNvCxnSpPr/>
          <p:nvPr/>
        </p:nvCxnSpPr>
        <p:spPr>
          <a:xfrm>
            <a:off x="5301574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39"/>
          <p:cNvCxnSpPr/>
          <p:nvPr/>
        </p:nvCxnSpPr>
        <p:spPr>
          <a:xfrm>
            <a:off x="6120223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39"/>
          <p:cNvCxnSpPr/>
          <p:nvPr/>
        </p:nvCxnSpPr>
        <p:spPr>
          <a:xfrm>
            <a:off x="6671272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8" name="Google Shape;558;p39"/>
          <p:cNvCxnSpPr/>
          <p:nvPr/>
        </p:nvCxnSpPr>
        <p:spPr>
          <a:xfrm>
            <a:off x="6942922" y="2466627"/>
            <a:ext cx="0" cy="2616000"/>
          </a:xfrm>
          <a:prstGeom prst="straightConnector1">
            <a:avLst/>
          </a:prstGeom>
          <a:noFill/>
          <a:ln cap="flat" cmpd="sng" w="19050">
            <a:solidFill>
              <a:srgbClr val="FFFFFF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559" name="Google Shape;559;p39"/>
          <p:cNvCxnSpPr/>
          <p:nvPr/>
        </p:nvCxnSpPr>
        <p:spPr>
          <a:xfrm>
            <a:off x="7208125" y="1865642"/>
            <a:ext cx="0" cy="3176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60" name="Google Shape;560;p39"/>
          <p:cNvSpPr txBox="1"/>
          <p:nvPr/>
        </p:nvSpPr>
        <p:spPr>
          <a:xfrm>
            <a:off x="3814063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➆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61" name="Google Shape;561;p39"/>
          <p:cNvSpPr txBox="1"/>
          <p:nvPr/>
        </p:nvSpPr>
        <p:spPr>
          <a:xfrm>
            <a:off x="5166688" y="1691375"/>
            <a:ext cx="4746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300">
                <a:solidFill>
                  <a:srgbClr val="FF0000"/>
                </a:solidFill>
              </a:rPr>
              <a:t>➇</a:t>
            </a:r>
            <a:endParaRPr b="1" sz="2300">
              <a:solidFill>
                <a:srgbClr val="FF0000"/>
              </a:solidFill>
            </a:endParaRPr>
          </a:p>
        </p:txBody>
      </p:sp>
      <p:sp>
        <p:nvSpPr>
          <p:cNvPr id="562" name="Google Shape;562;p39"/>
          <p:cNvSpPr/>
          <p:nvPr/>
        </p:nvSpPr>
        <p:spPr>
          <a:xfrm>
            <a:off x="6065850" y="2420075"/>
            <a:ext cx="378000" cy="219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39"/>
          <p:cNvSpPr/>
          <p:nvPr/>
        </p:nvSpPr>
        <p:spPr>
          <a:xfrm>
            <a:off x="5238525" y="3837000"/>
            <a:ext cx="1205400" cy="219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39"/>
          <p:cNvSpPr/>
          <p:nvPr/>
        </p:nvSpPr>
        <p:spPr>
          <a:xfrm>
            <a:off x="5238100" y="4466750"/>
            <a:ext cx="1205400" cy="219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39"/>
          <p:cNvSpPr/>
          <p:nvPr/>
        </p:nvSpPr>
        <p:spPr>
          <a:xfrm>
            <a:off x="5238100" y="4096775"/>
            <a:ext cx="1205400" cy="219000"/>
          </a:xfrm>
          <a:prstGeom prst="rect">
            <a:avLst/>
          </a:prstGeom>
          <a:noFill/>
          <a:ln cap="flat" cmpd="sng" w="2857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9"/>
          <p:cNvSpPr/>
          <p:nvPr/>
        </p:nvSpPr>
        <p:spPr>
          <a:xfrm flipH="1" rot="5400000">
            <a:off x="6386525" y="4164275"/>
            <a:ext cx="496500" cy="411900"/>
          </a:xfrm>
          <a:prstGeom prst="uturnArrow">
            <a:avLst>
              <a:gd fmla="val 22664" name="adj1"/>
              <a:gd fmla="val 25000" name="adj2"/>
              <a:gd fmla="val 31029" name="adj3"/>
              <a:gd fmla="val 43750" name="adj4"/>
              <a:gd fmla="val 92013" name="adj5"/>
            </a:avLst>
          </a:prstGeom>
          <a:solidFill>
            <a:srgbClr val="4A86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0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APB bus</a:t>
            </a:r>
            <a:endParaRPr b="1" sz="3500"/>
          </a:p>
        </p:txBody>
      </p:sp>
      <p:sp>
        <p:nvSpPr>
          <p:cNvPr id="572" name="Google Shape;572;p40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40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3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574" name="Google Shape;574;p40"/>
          <p:cNvSpPr txBox="1"/>
          <p:nvPr/>
        </p:nvSpPr>
        <p:spPr>
          <a:xfrm>
            <a:off x="4572000" y="2976750"/>
            <a:ext cx="1656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1) Concept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2) Memory Map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3) Simulation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 txBox="1"/>
          <p:nvPr>
            <p:ph type="title"/>
          </p:nvPr>
        </p:nvSpPr>
        <p:spPr>
          <a:xfrm>
            <a:off x="311700" y="1203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BUS </a:t>
            </a:r>
            <a:r>
              <a:rPr lang="ko"/>
              <a:t>사용이유</a:t>
            </a:r>
            <a:endParaRPr/>
          </a:p>
        </p:txBody>
      </p:sp>
      <p:pic>
        <p:nvPicPr>
          <p:cNvPr id="580" name="Google Shape;580;p41" title="APB_BUS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5300" y="1325275"/>
            <a:ext cx="8520600" cy="305549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41"/>
          <p:cNvSpPr txBox="1"/>
          <p:nvPr/>
        </p:nvSpPr>
        <p:spPr>
          <a:xfrm>
            <a:off x="311700" y="877375"/>
            <a:ext cx="24159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direct 배선 방식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2" name="Google Shape;582;p41"/>
          <p:cNvSpPr txBox="1"/>
          <p:nvPr/>
        </p:nvSpPr>
        <p:spPr>
          <a:xfrm>
            <a:off x="4421200" y="877375"/>
            <a:ext cx="13329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BUS </a:t>
            </a:r>
            <a:r>
              <a:rPr lang="ko" sz="1800">
                <a:solidFill>
                  <a:schemeClr val="dk2"/>
                </a:solidFill>
              </a:rPr>
              <a:t>도입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83" name="Google Shape;583;p41"/>
          <p:cNvSpPr txBox="1"/>
          <p:nvPr/>
        </p:nvSpPr>
        <p:spPr>
          <a:xfrm>
            <a:off x="350850" y="4409200"/>
            <a:ext cx="3427500" cy="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2"/>
                </a:solidFill>
              </a:rPr>
              <a:t>장치 추가 될때 마다, cpu logic 수정 발생.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584" name="Google Shape;584;p41"/>
          <p:cNvSpPr txBox="1"/>
          <p:nvPr/>
        </p:nvSpPr>
        <p:spPr>
          <a:xfrm>
            <a:off x="4183124" y="4380775"/>
            <a:ext cx="46572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2"/>
                </a:solidFill>
              </a:rPr>
              <a:t>새로운 장치 추가시, 버스 규격에 맞춰 슬레이브로 연결하면 됨.  시스템 확장성과 재사용성 극대화.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AMBA(Advanced Microcontroller bus architecture) protocol</a:t>
            </a:r>
            <a:endParaRPr/>
          </a:p>
        </p:txBody>
      </p:sp>
      <p:pic>
        <p:nvPicPr>
          <p:cNvPr id="590" name="Google Shape;590;p42"/>
          <p:cNvPicPr preferRelativeResize="0"/>
          <p:nvPr/>
        </p:nvPicPr>
        <p:blipFill rotWithShape="1">
          <a:blip r:embed="rId3">
            <a:alphaModFix/>
          </a:blip>
          <a:srcRect b="0" l="8806" r="8815" t="0"/>
          <a:stretch/>
        </p:blipFill>
        <p:spPr>
          <a:xfrm>
            <a:off x="104363" y="1017725"/>
            <a:ext cx="5830824" cy="4050444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2"/>
          <p:cNvSpPr txBox="1"/>
          <p:nvPr/>
        </p:nvSpPr>
        <p:spPr>
          <a:xfrm>
            <a:off x="5935175" y="1204300"/>
            <a:ext cx="310680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2286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ARM이 개발한 SoC 내부 통신 표준 버스 규격.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목적: 다양한 IP 연결 표준화로 설계 재사용성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        및 확장성 극대화.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AXI/AHB: 고속, 고대역폭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(CPU, Memory, DMA 등)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APB: 저속, 저전력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(GPIO, UART, I2C 등 주변장치)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MMIO </a:t>
            </a:r>
            <a:r>
              <a:rPr lang="ko"/>
              <a:t>및 메모리 맵</a:t>
            </a:r>
            <a:endParaRPr/>
          </a:p>
        </p:txBody>
      </p:sp>
      <p:graphicFrame>
        <p:nvGraphicFramePr>
          <p:cNvPr id="597" name="Google Shape;597;p43"/>
          <p:cNvGraphicFramePr/>
          <p:nvPr/>
        </p:nvGraphicFramePr>
        <p:xfrm>
          <a:off x="4572000" y="644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3241600"/>
                <a:gridCol w="1070150"/>
              </a:tblGrid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Boundary 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Peripheral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0x_2000_5000 ~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0x_2000_4000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0x_2000_4FFF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UART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0x_2000_3000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0x_2000_3FFF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FND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0x_2000_2000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0x_2000_2FFF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GPIO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0x_2000_1000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0x_2000_1FFF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0x_2000_0000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0x_2000_0FFF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GPO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0x_1000_</a:t>
                      </a:r>
                      <a:r>
                        <a:rPr lang="ko"/>
                        <a:t>1000 ~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0x_1FFF_FFFF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0x1000_0000 </a:t>
                      </a:r>
                      <a:r>
                        <a:rPr lang="ko"/>
                        <a:t>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0x_1000_0FFF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RAM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0x_0000_1000 ~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0x_0FFF_FFFF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0x0000_0000 ~ 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0x_0000_0FFF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ROM</a:t>
                      </a:r>
                      <a:endParaRPr/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</a:tbl>
          </a:graphicData>
        </a:graphic>
      </p:graphicFrame>
      <p:sp>
        <p:nvSpPr>
          <p:cNvPr id="598" name="Google Shape;598;p43"/>
          <p:cNvSpPr txBox="1"/>
          <p:nvPr/>
        </p:nvSpPr>
        <p:spPr>
          <a:xfrm>
            <a:off x="0" y="1017725"/>
            <a:ext cx="4411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MMIO</a:t>
            </a:r>
            <a:r>
              <a:rPr b="1" lang="ko" sz="1100">
                <a:solidFill>
                  <a:schemeClr val="dk1"/>
                </a:solidFill>
              </a:rPr>
              <a:t>(memory mapped I/O)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b="1" lang="ko" sz="1100">
                <a:solidFill>
                  <a:schemeClr val="dk1"/>
                </a:solidFill>
              </a:rPr>
              <a:t>정의</a:t>
            </a:r>
            <a:r>
              <a:rPr lang="ko" sz="1100">
                <a:solidFill>
                  <a:schemeClr val="dk1"/>
                </a:solidFill>
              </a:rPr>
              <a:t>: CPU가 I/O 장치를 메모리 주소 공간으로 인식하여 제어하는 방식.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주변장치(UART, GPIO 등) 레지스터에 특정 메모리 주소를 할당.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작동 원리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전용 I/O 명령어(IN/OUT) 없이, 일반 메모리 접근 명령어(Load/Store) 사용.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 CPU가 특정 주소에 접근하면, APB master 모듈이 감지하여 해당 장치의 PSEL 신호 활성화.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ko" sz="1100">
                <a:solidFill>
                  <a:schemeClr val="dk1"/>
                </a:solidFill>
              </a:rPr>
              <a:t>장점</a:t>
            </a:r>
            <a:endParaRPr b="1"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복잡한 I/O 프로토콜 없이 C언어 포인터 연산으로 하드웨어 제어 가능.</a:t>
            </a:r>
            <a:endParaRPr sz="1100"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ko" sz="1100">
                <a:solidFill>
                  <a:schemeClr val="dk1"/>
                </a:solidFill>
              </a:rPr>
              <a:t>주소 공간이 충분하면 새로운 주변장치 추가 용이.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599" name="Google Shape;599;p43"/>
          <p:cNvSpPr txBox="1"/>
          <p:nvPr/>
        </p:nvSpPr>
        <p:spPr>
          <a:xfrm>
            <a:off x="7813600" y="348150"/>
            <a:ext cx="7359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>
                <a:solidFill>
                  <a:schemeClr val="dk1"/>
                </a:solidFill>
              </a:rPr>
              <a:t>4KBYTE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44" title="APB_BUS-페이지-23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5225" y="123550"/>
            <a:ext cx="5713957" cy="5019951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44"/>
          <p:cNvSpPr txBox="1"/>
          <p:nvPr>
            <p:ph type="title"/>
          </p:nvPr>
        </p:nvSpPr>
        <p:spPr>
          <a:xfrm>
            <a:off x="61650" y="1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Block Diagram</a:t>
            </a:r>
            <a:endParaRPr/>
          </a:p>
        </p:txBody>
      </p:sp>
      <p:sp>
        <p:nvSpPr>
          <p:cNvPr id="606" name="Google Shape;606;p44"/>
          <p:cNvSpPr/>
          <p:nvPr/>
        </p:nvSpPr>
        <p:spPr>
          <a:xfrm>
            <a:off x="3609750" y="780450"/>
            <a:ext cx="1614000" cy="149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45"/>
          <p:cNvPicPr preferRelativeResize="0"/>
          <p:nvPr/>
        </p:nvPicPr>
        <p:blipFill rotWithShape="1">
          <a:blip r:embed="rId3">
            <a:alphaModFix/>
          </a:blip>
          <a:srcRect b="0" l="51510" r="12355" t="0"/>
          <a:stretch/>
        </p:blipFill>
        <p:spPr>
          <a:xfrm>
            <a:off x="449750" y="1355225"/>
            <a:ext cx="2231300" cy="3533651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APB protocol </a:t>
            </a:r>
            <a:r>
              <a:rPr lang="ko"/>
              <a:t>특징</a:t>
            </a:r>
            <a:endParaRPr/>
          </a:p>
        </p:txBody>
      </p:sp>
      <p:sp>
        <p:nvSpPr>
          <p:cNvPr id="613" name="Google Shape;613;p45"/>
          <p:cNvSpPr txBox="1"/>
          <p:nvPr>
            <p:ph idx="1" type="body"/>
          </p:nvPr>
        </p:nvSpPr>
        <p:spPr>
          <a:xfrm>
            <a:off x="311700" y="1252525"/>
            <a:ext cx="2507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06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AutoNum type="arabicPeriod"/>
            </a:pPr>
            <a:r>
              <a:rPr lang="ko" sz="1450">
                <a:solidFill>
                  <a:schemeClr val="dk1"/>
                </a:solidFill>
              </a:rPr>
              <a:t>Master-slave </a:t>
            </a:r>
            <a:r>
              <a:rPr lang="ko" sz="1450">
                <a:solidFill>
                  <a:schemeClr val="dk1"/>
                </a:solidFill>
              </a:rPr>
              <a:t>구조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614" name="Google Shape;614;p45"/>
          <p:cNvSpPr txBox="1"/>
          <p:nvPr>
            <p:ph idx="1" type="body"/>
          </p:nvPr>
        </p:nvSpPr>
        <p:spPr>
          <a:xfrm>
            <a:off x="3446275" y="1252525"/>
            <a:ext cx="346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SzPts val="770"/>
              <a:buNone/>
            </a:pPr>
            <a:r>
              <a:rPr lang="ko" sz="1450">
                <a:solidFill>
                  <a:schemeClr val="dk1"/>
                </a:solidFill>
              </a:rPr>
              <a:t>2. </a:t>
            </a:r>
            <a:r>
              <a:rPr lang="ko" sz="1450">
                <a:solidFill>
                  <a:schemeClr val="dk1"/>
                </a:solidFill>
              </a:rPr>
              <a:t>최소 2-Clock(setup,access) 기반 통신</a:t>
            </a:r>
            <a:endParaRPr sz="1450">
              <a:solidFill>
                <a:schemeClr val="dk1"/>
              </a:solidFill>
            </a:endParaRPr>
          </a:p>
        </p:txBody>
      </p:sp>
      <p:sp>
        <p:nvSpPr>
          <p:cNvPr id="615" name="Google Shape;615;p45"/>
          <p:cNvSpPr txBox="1"/>
          <p:nvPr>
            <p:ph idx="1" type="body"/>
          </p:nvPr>
        </p:nvSpPr>
        <p:spPr>
          <a:xfrm>
            <a:off x="6913075" y="1252516"/>
            <a:ext cx="2623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ko" sz="1450">
                <a:solidFill>
                  <a:schemeClr val="dk1"/>
                </a:solidFill>
              </a:rPr>
              <a:t>3. wait state </a:t>
            </a:r>
            <a:r>
              <a:rPr lang="ko" sz="1450">
                <a:solidFill>
                  <a:schemeClr val="dk1"/>
                </a:solidFill>
              </a:rPr>
              <a:t>지원</a:t>
            </a:r>
            <a:endParaRPr sz="1450">
              <a:solidFill>
                <a:schemeClr val="dk1"/>
              </a:solidFill>
            </a:endParaRPr>
          </a:p>
        </p:txBody>
      </p:sp>
      <p:pic>
        <p:nvPicPr>
          <p:cNvPr id="616" name="Google Shape;616;p45" title="스크린샷 2026-03-28 오후 5.06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79202" y="1825225"/>
            <a:ext cx="5940450" cy="2875149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45"/>
          <p:cNvSpPr txBox="1"/>
          <p:nvPr/>
        </p:nvSpPr>
        <p:spPr>
          <a:xfrm>
            <a:off x="4896325" y="1825225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SETUP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18" name="Google Shape;618;p45"/>
          <p:cNvSpPr txBox="1"/>
          <p:nvPr/>
        </p:nvSpPr>
        <p:spPr>
          <a:xfrm>
            <a:off x="4119825" y="1825225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IDLE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19" name="Google Shape;619;p45"/>
          <p:cNvSpPr txBox="1"/>
          <p:nvPr/>
        </p:nvSpPr>
        <p:spPr>
          <a:xfrm>
            <a:off x="5463025" y="1863900"/>
            <a:ext cx="102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ACCESS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20" name="Google Shape;620;p45"/>
          <p:cNvSpPr txBox="1"/>
          <p:nvPr/>
        </p:nvSpPr>
        <p:spPr>
          <a:xfrm>
            <a:off x="5559000" y="3822475"/>
            <a:ext cx="16596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WAIT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21" name="Google Shape;621;p45"/>
          <p:cNvSpPr txBox="1"/>
          <p:nvPr/>
        </p:nvSpPr>
        <p:spPr>
          <a:xfrm>
            <a:off x="6232300" y="1863900"/>
            <a:ext cx="102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ACCESS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22" name="Google Shape;622;p45"/>
          <p:cNvSpPr txBox="1"/>
          <p:nvPr/>
        </p:nvSpPr>
        <p:spPr>
          <a:xfrm>
            <a:off x="7058175" y="1863900"/>
            <a:ext cx="102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ACCESS</a:t>
            </a:r>
            <a:endParaRPr sz="9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46"/>
          <p:cNvSpPr txBox="1"/>
          <p:nvPr>
            <p:ph type="title"/>
          </p:nvPr>
        </p:nvSpPr>
        <p:spPr>
          <a:xfrm>
            <a:off x="84625" y="1359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APB master - state diagram</a:t>
            </a:r>
            <a:endParaRPr/>
          </a:p>
        </p:txBody>
      </p:sp>
      <p:pic>
        <p:nvPicPr>
          <p:cNvPr id="628" name="Google Shape;628;p46" title="스크린샷 2026-03-28 오후 5.43.44.png"/>
          <p:cNvPicPr preferRelativeResize="0"/>
          <p:nvPr/>
        </p:nvPicPr>
        <p:blipFill rotWithShape="1">
          <a:blip r:embed="rId3">
            <a:alphaModFix/>
          </a:blip>
          <a:srcRect b="10104" l="5393" r="-9" t="0"/>
          <a:stretch/>
        </p:blipFill>
        <p:spPr>
          <a:xfrm>
            <a:off x="129800" y="760600"/>
            <a:ext cx="4142951" cy="4125775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5848075" y="3635875"/>
            <a:ext cx="598500" cy="3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read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630" name="Google Shape;630;p46" title="APB_bus_ASM.drawio.png"/>
          <p:cNvPicPr preferRelativeResize="0"/>
          <p:nvPr/>
        </p:nvPicPr>
        <p:blipFill rotWithShape="1">
          <a:blip r:embed="rId4">
            <a:alphaModFix/>
          </a:blip>
          <a:srcRect b="0" l="39526" r="0" t="0"/>
          <a:stretch/>
        </p:blipFill>
        <p:spPr>
          <a:xfrm>
            <a:off x="3710424" y="319113"/>
            <a:ext cx="5345399" cy="4824376"/>
          </a:xfrm>
          <a:prstGeom prst="rect">
            <a:avLst/>
          </a:prstGeom>
          <a:noFill/>
          <a:ln>
            <a:noFill/>
          </a:ln>
        </p:spPr>
      </p:pic>
      <p:sp>
        <p:nvSpPr>
          <p:cNvPr id="631" name="Google Shape;631;p46"/>
          <p:cNvSpPr txBox="1"/>
          <p:nvPr/>
        </p:nvSpPr>
        <p:spPr>
          <a:xfrm>
            <a:off x="4272750" y="3715250"/>
            <a:ext cx="598500" cy="6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write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Google Shape;636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APB protocol </a:t>
            </a:r>
            <a:r>
              <a:rPr lang="ko"/>
              <a:t>통신 과정</a:t>
            </a:r>
            <a:endParaRPr/>
          </a:p>
        </p:txBody>
      </p:sp>
      <p:pic>
        <p:nvPicPr>
          <p:cNvPr id="637" name="Google Shape;637;p47" title="스크린샷 2026-03-28 오후 5.41.4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825" y="1301313"/>
            <a:ext cx="4399175" cy="296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8" name="Google Shape;638;p47" title="스크린샷 2026-03-28 오후 5.42.2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55350" y="1244675"/>
            <a:ext cx="4488650" cy="310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39" name="Google Shape;639;p47"/>
          <p:cNvSpPr/>
          <p:nvPr/>
        </p:nvSpPr>
        <p:spPr>
          <a:xfrm>
            <a:off x="311700" y="1809275"/>
            <a:ext cx="8610000" cy="966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7"/>
          <p:cNvSpPr txBox="1"/>
          <p:nvPr/>
        </p:nvSpPr>
        <p:spPr>
          <a:xfrm>
            <a:off x="1201725" y="1301325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IDLE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1" name="Google Shape;641;p47"/>
          <p:cNvSpPr txBox="1"/>
          <p:nvPr/>
        </p:nvSpPr>
        <p:spPr>
          <a:xfrm>
            <a:off x="5683648" y="1214734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IDLE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2" name="Google Shape;642;p47"/>
          <p:cNvSpPr txBox="1"/>
          <p:nvPr/>
        </p:nvSpPr>
        <p:spPr>
          <a:xfrm>
            <a:off x="1960900" y="1281988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SETUP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3" name="Google Shape;643;p47"/>
          <p:cNvSpPr txBox="1"/>
          <p:nvPr/>
        </p:nvSpPr>
        <p:spPr>
          <a:xfrm>
            <a:off x="2588214" y="1286026"/>
            <a:ext cx="102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ACCESS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4" name="Google Shape;644;p47"/>
          <p:cNvSpPr txBox="1"/>
          <p:nvPr/>
        </p:nvSpPr>
        <p:spPr>
          <a:xfrm>
            <a:off x="6416886" y="1212700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SETUP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5" name="Google Shape;645;p47"/>
          <p:cNvSpPr txBox="1"/>
          <p:nvPr/>
        </p:nvSpPr>
        <p:spPr>
          <a:xfrm>
            <a:off x="7061518" y="1225398"/>
            <a:ext cx="10248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0000"/>
                </a:solidFill>
              </a:rPr>
              <a:t>ACCESS</a:t>
            </a:r>
            <a:endParaRPr sz="900">
              <a:solidFill>
                <a:srgbClr val="FF0000"/>
              </a:solidFill>
            </a:endParaRPr>
          </a:p>
        </p:txBody>
      </p:sp>
      <p:sp>
        <p:nvSpPr>
          <p:cNvPr id="646" name="Google Shape;646;p47"/>
          <p:cNvSpPr txBox="1"/>
          <p:nvPr/>
        </p:nvSpPr>
        <p:spPr>
          <a:xfrm>
            <a:off x="2642000" y="2157675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0000"/>
                </a:solidFill>
              </a:rPr>
              <a:t>1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647" name="Google Shape;647;p47"/>
          <p:cNvSpPr txBox="1"/>
          <p:nvPr/>
        </p:nvSpPr>
        <p:spPr>
          <a:xfrm>
            <a:off x="7290575" y="2109680"/>
            <a:ext cx="5667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0000"/>
                </a:solidFill>
              </a:rPr>
              <a:t>0</a:t>
            </a:r>
            <a:endParaRPr sz="1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8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GPIO</a:t>
            </a:r>
            <a:endParaRPr b="1" sz="3500"/>
          </a:p>
        </p:txBody>
      </p:sp>
      <p:sp>
        <p:nvSpPr>
          <p:cNvPr id="653" name="Google Shape;653;p48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8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4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655" name="Google Shape;655;p48"/>
          <p:cNvSpPr txBox="1"/>
          <p:nvPr/>
        </p:nvSpPr>
        <p:spPr>
          <a:xfrm>
            <a:off x="4572000" y="2976750"/>
            <a:ext cx="1656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1) Concept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2) Memory Map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3) Simulation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9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GPIO-slave</a:t>
            </a:r>
            <a:endParaRPr/>
          </a:p>
        </p:txBody>
      </p:sp>
      <p:sp>
        <p:nvSpPr>
          <p:cNvPr id="661" name="Google Shape;661;p49"/>
          <p:cNvSpPr txBox="1"/>
          <p:nvPr/>
        </p:nvSpPr>
        <p:spPr>
          <a:xfrm>
            <a:off x="2807675" y="3727625"/>
            <a:ext cx="1177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id="662" name="Google Shape;662;p49"/>
          <p:cNvGrpSpPr/>
          <p:nvPr/>
        </p:nvGrpSpPr>
        <p:grpSpPr>
          <a:xfrm>
            <a:off x="246725" y="1285685"/>
            <a:ext cx="8477250" cy="3438525"/>
            <a:chOff x="246725" y="975088"/>
            <a:chExt cx="8477250" cy="3438525"/>
          </a:xfrm>
        </p:grpSpPr>
        <p:pic>
          <p:nvPicPr>
            <p:cNvPr id="663" name="Google Shape;663;p49" title="gpio_bd.jp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6725" y="975088"/>
              <a:ext cx="8477250" cy="34385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49"/>
            <p:cNvSpPr/>
            <p:nvPr/>
          </p:nvSpPr>
          <p:spPr>
            <a:xfrm>
              <a:off x="4868575" y="2437400"/>
              <a:ext cx="632100" cy="701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49"/>
            <p:cNvSpPr/>
            <p:nvPr/>
          </p:nvSpPr>
          <p:spPr>
            <a:xfrm>
              <a:off x="5869575" y="3195950"/>
              <a:ext cx="632100" cy="701400"/>
            </a:xfrm>
            <a:prstGeom prst="rect">
              <a:avLst/>
            </a:prstGeom>
            <a:noFill/>
            <a:ln cap="flat" cmpd="sng" w="38100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6" name="Google Shape;666;p49"/>
          <p:cNvSpPr txBox="1"/>
          <p:nvPr/>
        </p:nvSpPr>
        <p:spPr>
          <a:xfrm>
            <a:off x="152286" y="742400"/>
            <a:ext cx="6541500" cy="5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GPIO: 하나의 선으로 입출력을 모두 처리하는 inout 포트.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0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1" name="Google Shape;671;p50"/>
          <p:cNvGraphicFramePr/>
          <p:nvPr/>
        </p:nvGraphicFramePr>
        <p:xfrm>
          <a:off x="152225" y="16643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1267600"/>
                <a:gridCol w="1919800"/>
                <a:gridCol w="5530200"/>
              </a:tblGrid>
              <a:tr h="369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register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offset+8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gpio_idata_reg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[15:0]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600">
                          <a:solidFill>
                            <a:schemeClr val="dk1"/>
                          </a:solidFill>
                        </a:rPr>
                        <a:t>gpio의 input data register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6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offset+4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gpio_odata_reg</a:t>
                      </a:r>
                      <a:r>
                        <a:rPr lang="ko">
                          <a:solidFill>
                            <a:schemeClr val="dk1"/>
                          </a:solidFill>
                        </a:rPr>
                        <a:t>[15:0]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600">
                          <a:solidFill>
                            <a:schemeClr val="dk1"/>
                          </a:solidFill>
                        </a:rPr>
                        <a:t>gpio의 output data register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453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offset+0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gpio_ctl_reg[15:0]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600">
                          <a:solidFill>
                            <a:schemeClr val="dk1"/>
                          </a:solidFill>
                        </a:rPr>
                        <a:t> bit data 1: gpio data값을 해당 bit 위치의 register에 write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600">
                          <a:solidFill>
                            <a:schemeClr val="dk1"/>
                          </a:solidFill>
                        </a:rPr>
                        <a:t> bit data 0: z값을 해당 bit 위치의 register에 write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72" name="Google Shape;672;p50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GPIO-slave memory register map</a:t>
            </a:r>
            <a:endParaRPr/>
          </a:p>
        </p:txBody>
      </p:sp>
      <p:graphicFrame>
        <p:nvGraphicFramePr>
          <p:cNvPr id="673" name="Google Shape;673;p50"/>
          <p:cNvGraphicFramePr/>
          <p:nvPr/>
        </p:nvGraphicFramePr>
        <p:xfrm>
          <a:off x="152231" y="7223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3241600"/>
                <a:gridCol w="1070150"/>
              </a:tblGrid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offset 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Peripheral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0x_2000_2000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GPIO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674" name="Google Shape;674;p50"/>
          <p:cNvGraphicFramePr/>
          <p:nvPr/>
        </p:nvGraphicFramePr>
        <p:xfrm>
          <a:off x="213175" y="45631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512800"/>
                <a:gridCol w="642800"/>
                <a:gridCol w="512750"/>
                <a:gridCol w="382850"/>
                <a:gridCol w="512800"/>
              </a:tblGrid>
              <a:tr h="335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LED[7]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LED[6]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LED[5]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LED[4]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LED[3]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LED[2]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LED[1]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LED[0]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SW[7]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SW[6]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SW[5]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SW[4]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SW[3]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SW[2]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SW[1]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SW[0]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/>
                </a:tc>
                <a:tc hMerge="1"/>
              </a:tr>
            </a:tbl>
          </a:graphicData>
        </a:graphic>
      </p:graphicFrame>
      <p:sp>
        <p:nvSpPr>
          <p:cNvPr id="675" name="Google Shape;675;p50"/>
          <p:cNvSpPr txBox="1"/>
          <p:nvPr/>
        </p:nvSpPr>
        <p:spPr>
          <a:xfrm>
            <a:off x="213175" y="4259100"/>
            <a:ext cx="877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GPIO[15:0]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76" name="Google Shape;676;p50"/>
          <p:cNvSpPr txBox="1"/>
          <p:nvPr/>
        </p:nvSpPr>
        <p:spPr>
          <a:xfrm>
            <a:off x="8688075" y="4259100"/>
            <a:ext cx="24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0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677" name="Google Shape;677;p50"/>
          <p:cNvSpPr txBox="1"/>
          <p:nvPr/>
        </p:nvSpPr>
        <p:spPr>
          <a:xfrm>
            <a:off x="4098588" y="4259100"/>
            <a:ext cx="242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8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51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 </a:t>
            </a:r>
            <a:r>
              <a:rPr lang="ko"/>
              <a:t>동작검증</a:t>
            </a:r>
            <a:r>
              <a:rPr lang="ko"/>
              <a:t>-c code </a:t>
            </a:r>
            <a:r>
              <a:rPr lang="ko"/>
              <a:t>시나리오 </a:t>
            </a:r>
            <a:endParaRPr/>
          </a:p>
        </p:txBody>
      </p:sp>
      <p:pic>
        <p:nvPicPr>
          <p:cNvPr id="683" name="Google Shape;68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725" y="202925"/>
            <a:ext cx="3116375" cy="494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4" name="Google Shape;684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400" y="589276"/>
            <a:ext cx="4269579" cy="455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9" name="Google Shape;689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5" y="670800"/>
            <a:ext cx="8146532" cy="4472699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52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GPIO-c code- read(gpio_idata_reg)</a:t>
            </a:r>
            <a:endParaRPr/>
          </a:p>
        </p:txBody>
      </p:sp>
      <p:sp>
        <p:nvSpPr>
          <p:cNvPr id="691" name="Google Shape;691;p52"/>
          <p:cNvSpPr txBox="1"/>
          <p:nvPr/>
        </p:nvSpPr>
        <p:spPr>
          <a:xfrm>
            <a:off x="3919225" y="1970632"/>
            <a:ext cx="111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r>
              <a:rPr lang="ko" sz="1300">
                <a:solidFill>
                  <a:srgbClr val="FF0000"/>
                </a:solidFill>
              </a:rPr>
              <a:t>(read)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692" name="Google Shape;692;p52"/>
          <p:cNvSpPr txBox="1"/>
          <p:nvPr/>
        </p:nvSpPr>
        <p:spPr>
          <a:xfrm>
            <a:off x="4439500" y="4648200"/>
            <a:ext cx="111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0</a:t>
            </a:r>
            <a:r>
              <a:rPr lang="ko" sz="1300">
                <a:solidFill>
                  <a:srgbClr val="FF0000"/>
                </a:solidFill>
              </a:rPr>
              <a:t>(read)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6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886" y="606400"/>
            <a:ext cx="8074229" cy="4390051"/>
          </a:xfrm>
          <a:prstGeom prst="rect">
            <a:avLst/>
          </a:prstGeom>
          <a:noFill/>
          <a:ln>
            <a:noFill/>
          </a:ln>
        </p:spPr>
      </p:pic>
      <p:sp>
        <p:nvSpPr>
          <p:cNvPr id="698" name="Google Shape;698;p53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GPIO-c code- read(gpio_idata_reg)</a:t>
            </a:r>
            <a:endParaRPr/>
          </a:p>
        </p:txBody>
      </p:sp>
      <p:sp>
        <p:nvSpPr>
          <p:cNvPr id="699" name="Google Shape;699;p53"/>
          <p:cNvSpPr txBox="1"/>
          <p:nvPr/>
        </p:nvSpPr>
        <p:spPr>
          <a:xfrm>
            <a:off x="6065325" y="192065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00" name="Google Shape;700;p53"/>
          <p:cNvSpPr txBox="1"/>
          <p:nvPr/>
        </p:nvSpPr>
        <p:spPr>
          <a:xfrm>
            <a:off x="4182975" y="2076450"/>
            <a:ext cx="111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0(read)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01" name="Google Shape;701;p53"/>
          <p:cNvSpPr txBox="1"/>
          <p:nvPr/>
        </p:nvSpPr>
        <p:spPr>
          <a:xfrm>
            <a:off x="6065325" y="2177825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02" name="Google Shape;702;p53"/>
          <p:cNvSpPr txBox="1"/>
          <p:nvPr/>
        </p:nvSpPr>
        <p:spPr>
          <a:xfrm>
            <a:off x="4086975" y="2922725"/>
            <a:ext cx="1119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r>
              <a:rPr lang="ko" sz="1300">
                <a:solidFill>
                  <a:srgbClr val="FF0000"/>
                </a:solidFill>
              </a:rPr>
              <a:t>(GPIO)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03" name="Google Shape;703;p53"/>
          <p:cNvSpPr txBox="1"/>
          <p:nvPr/>
        </p:nvSpPr>
        <p:spPr>
          <a:xfrm>
            <a:off x="5978025" y="4134325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04" name="Google Shape;704;p53"/>
          <p:cNvSpPr/>
          <p:nvPr/>
        </p:nvSpPr>
        <p:spPr>
          <a:xfrm>
            <a:off x="4435669" y="4355149"/>
            <a:ext cx="1558200" cy="13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53"/>
          <p:cNvSpPr/>
          <p:nvPr/>
        </p:nvSpPr>
        <p:spPr>
          <a:xfrm>
            <a:off x="3497674" y="2788025"/>
            <a:ext cx="488100" cy="13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3"/>
          <p:cNvSpPr/>
          <p:nvPr/>
        </p:nvSpPr>
        <p:spPr>
          <a:xfrm>
            <a:off x="4507119" y="4861749"/>
            <a:ext cx="1558200" cy="13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1" name="Google Shape;711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512" y="792525"/>
            <a:ext cx="8970976" cy="3780026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54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GPIO-c code- read(gpio_idata_reg)</a:t>
            </a:r>
            <a:endParaRPr/>
          </a:p>
        </p:txBody>
      </p:sp>
      <p:sp>
        <p:nvSpPr>
          <p:cNvPr id="713" name="Google Shape;713;p54"/>
          <p:cNvSpPr txBox="1"/>
          <p:nvPr/>
        </p:nvSpPr>
        <p:spPr>
          <a:xfrm>
            <a:off x="6363350" y="202585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14" name="Google Shape;714;p54"/>
          <p:cNvSpPr txBox="1"/>
          <p:nvPr/>
        </p:nvSpPr>
        <p:spPr>
          <a:xfrm>
            <a:off x="5136050" y="1652675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15" name="Google Shape;715;p54"/>
          <p:cNvSpPr/>
          <p:nvPr/>
        </p:nvSpPr>
        <p:spPr>
          <a:xfrm>
            <a:off x="7401244" y="4395674"/>
            <a:ext cx="1558200" cy="13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0" name="Google Shape;720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605375"/>
            <a:ext cx="8520598" cy="4496572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5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GPIO-c code- write(gpio_odata_reg)</a:t>
            </a:r>
            <a:endParaRPr/>
          </a:p>
        </p:txBody>
      </p:sp>
      <p:sp>
        <p:nvSpPr>
          <p:cNvPr id="722" name="Google Shape;722;p55"/>
          <p:cNvSpPr txBox="1"/>
          <p:nvPr/>
        </p:nvSpPr>
        <p:spPr>
          <a:xfrm>
            <a:off x="6363350" y="202585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23" name="Google Shape;723;p55"/>
          <p:cNvSpPr txBox="1"/>
          <p:nvPr/>
        </p:nvSpPr>
        <p:spPr>
          <a:xfrm>
            <a:off x="4455850" y="1778825"/>
            <a:ext cx="1122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1(write)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24" name="Google Shape;724;p55"/>
          <p:cNvSpPr txBox="1"/>
          <p:nvPr/>
        </p:nvSpPr>
        <p:spPr>
          <a:xfrm>
            <a:off x="5944000" y="2274125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25" name="Google Shape;725;p55"/>
          <p:cNvSpPr txBox="1"/>
          <p:nvPr/>
        </p:nvSpPr>
        <p:spPr>
          <a:xfrm>
            <a:off x="5714575" y="4604238"/>
            <a:ext cx="1122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1(write)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670800"/>
            <a:ext cx="8520600" cy="4387397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56"/>
          <p:cNvSpPr txBox="1"/>
          <p:nvPr>
            <p:ph type="title"/>
          </p:nvPr>
        </p:nvSpPr>
        <p:spPr>
          <a:xfrm>
            <a:off x="95625" y="98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GPIO-c code- write(gpio_odata_reg)</a:t>
            </a:r>
            <a:endParaRPr/>
          </a:p>
        </p:txBody>
      </p:sp>
      <p:sp>
        <p:nvSpPr>
          <p:cNvPr id="732" name="Google Shape;732;p56"/>
          <p:cNvSpPr txBox="1"/>
          <p:nvPr/>
        </p:nvSpPr>
        <p:spPr>
          <a:xfrm>
            <a:off x="6363350" y="202585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3" name="Google Shape;733;p56"/>
          <p:cNvSpPr txBox="1"/>
          <p:nvPr/>
        </p:nvSpPr>
        <p:spPr>
          <a:xfrm>
            <a:off x="5944000" y="2000275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4" name="Google Shape;734;p56"/>
          <p:cNvSpPr txBox="1"/>
          <p:nvPr/>
        </p:nvSpPr>
        <p:spPr>
          <a:xfrm>
            <a:off x="3925875" y="2000275"/>
            <a:ext cx="271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5" name="Google Shape;735;p56"/>
          <p:cNvSpPr txBox="1"/>
          <p:nvPr/>
        </p:nvSpPr>
        <p:spPr>
          <a:xfrm>
            <a:off x="4551100" y="2122450"/>
            <a:ext cx="1122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1(write)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6" name="Google Shape;736;p56"/>
          <p:cNvSpPr txBox="1"/>
          <p:nvPr/>
        </p:nvSpPr>
        <p:spPr>
          <a:xfrm>
            <a:off x="4891575" y="300425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7" name="Google Shape;737;p56"/>
          <p:cNvSpPr txBox="1"/>
          <p:nvPr/>
        </p:nvSpPr>
        <p:spPr>
          <a:xfrm>
            <a:off x="5884025" y="4149200"/>
            <a:ext cx="573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738" name="Google Shape;738;p56"/>
          <p:cNvSpPr/>
          <p:nvPr/>
        </p:nvSpPr>
        <p:spPr>
          <a:xfrm>
            <a:off x="6811075" y="4774014"/>
            <a:ext cx="1558200" cy="1347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6"/>
          <p:cNvSpPr/>
          <p:nvPr/>
        </p:nvSpPr>
        <p:spPr>
          <a:xfrm>
            <a:off x="4809775" y="3636804"/>
            <a:ext cx="742200" cy="2670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57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 RAM</a:t>
            </a:r>
            <a:endParaRPr b="1" sz="3500"/>
          </a:p>
        </p:txBody>
      </p:sp>
      <p:sp>
        <p:nvSpPr>
          <p:cNvPr id="745" name="Google Shape;745;p57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57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4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747" name="Google Shape;747;p57"/>
          <p:cNvSpPr txBox="1"/>
          <p:nvPr/>
        </p:nvSpPr>
        <p:spPr>
          <a:xfrm>
            <a:off x="4572000" y="2976750"/>
            <a:ext cx="1656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1) Concept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2) Memory Map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3) Simulation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8"/>
          <p:cNvSpPr txBox="1"/>
          <p:nvPr>
            <p:ph type="title"/>
          </p:nvPr>
        </p:nvSpPr>
        <p:spPr>
          <a:xfrm>
            <a:off x="61650" y="12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Block Diagram</a:t>
            </a:r>
            <a:endParaRPr/>
          </a:p>
        </p:txBody>
      </p:sp>
      <p:grpSp>
        <p:nvGrpSpPr>
          <p:cNvPr id="753" name="Google Shape;753;p58"/>
          <p:cNvGrpSpPr/>
          <p:nvPr/>
        </p:nvGrpSpPr>
        <p:grpSpPr>
          <a:xfrm>
            <a:off x="901900" y="837625"/>
            <a:ext cx="4704388" cy="4142449"/>
            <a:chOff x="152400" y="848650"/>
            <a:chExt cx="4704388" cy="4142449"/>
          </a:xfrm>
        </p:grpSpPr>
        <p:pic>
          <p:nvPicPr>
            <p:cNvPr id="754" name="Google Shape;754;p5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52400" y="848650"/>
              <a:ext cx="3548155" cy="414244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55" name="Google Shape;755;p58"/>
            <p:cNvSpPr/>
            <p:nvPr/>
          </p:nvSpPr>
          <p:spPr>
            <a:xfrm>
              <a:off x="1452675" y="1133175"/>
              <a:ext cx="696600" cy="5457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6" name="Google Shape;756;p58"/>
            <p:cNvCxnSpPr>
              <a:endCxn id="757" idx="1"/>
            </p:cNvCxnSpPr>
            <p:nvPr/>
          </p:nvCxnSpPr>
          <p:spPr>
            <a:xfrm>
              <a:off x="1475575" y="1133050"/>
              <a:ext cx="2199900" cy="69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8" name="Google Shape;758;p58"/>
            <p:cNvSpPr/>
            <p:nvPr/>
          </p:nvSpPr>
          <p:spPr>
            <a:xfrm>
              <a:off x="1452675" y="1744500"/>
              <a:ext cx="696600" cy="6621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59" name="Google Shape;759;p58"/>
            <p:cNvCxnSpPr>
              <a:stCxn id="758" idx="3"/>
            </p:cNvCxnSpPr>
            <p:nvPr/>
          </p:nvCxnSpPr>
          <p:spPr>
            <a:xfrm>
              <a:off x="2149275" y="2075550"/>
              <a:ext cx="1533600" cy="51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0" name="Google Shape;760;p58"/>
            <p:cNvSpPr/>
            <p:nvPr/>
          </p:nvSpPr>
          <p:spPr>
            <a:xfrm>
              <a:off x="2277800" y="2707450"/>
              <a:ext cx="1037400" cy="5457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1" name="Google Shape;761;p58"/>
            <p:cNvCxnSpPr>
              <a:stCxn id="760" idx="3"/>
            </p:cNvCxnSpPr>
            <p:nvPr/>
          </p:nvCxnSpPr>
          <p:spPr>
            <a:xfrm>
              <a:off x="3315200" y="2980300"/>
              <a:ext cx="378000" cy="2100"/>
            </a:xfrm>
            <a:prstGeom prst="straightConnector1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7" name="Google Shape;757;p58"/>
            <p:cNvSpPr txBox="1"/>
            <p:nvPr/>
          </p:nvSpPr>
          <p:spPr>
            <a:xfrm>
              <a:off x="3675475" y="932200"/>
              <a:ext cx="1158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>
                  <a:solidFill>
                    <a:srgbClr val="FF0000"/>
                  </a:solidFill>
                </a:rPr>
                <a:t>Trig signal</a:t>
              </a:r>
              <a:endParaRPr sz="1500"/>
            </a:p>
          </p:txBody>
        </p:sp>
        <p:sp>
          <p:nvSpPr>
            <p:cNvPr id="762" name="Google Shape;762;p58"/>
            <p:cNvSpPr txBox="1"/>
            <p:nvPr/>
          </p:nvSpPr>
          <p:spPr>
            <a:xfrm>
              <a:off x="3698488" y="2772550"/>
              <a:ext cx="1158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>
                  <a:solidFill>
                    <a:srgbClr val="FF0000"/>
                  </a:solidFill>
                </a:rPr>
                <a:t>End signal</a:t>
              </a:r>
              <a:endParaRPr sz="1500"/>
            </a:p>
          </p:txBody>
        </p:sp>
        <p:sp>
          <p:nvSpPr>
            <p:cNvPr id="763" name="Google Shape;763;p58"/>
            <p:cNvSpPr txBox="1"/>
            <p:nvPr/>
          </p:nvSpPr>
          <p:spPr>
            <a:xfrm>
              <a:off x="3675475" y="1870350"/>
              <a:ext cx="1158300" cy="415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" sz="1500">
                  <a:solidFill>
                    <a:srgbClr val="FF0000"/>
                  </a:solidFill>
                </a:rPr>
                <a:t>Data signal</a:t>
              </a:r>
              <a:endParaRPr sz="1500"/>
            </a:p>
          </p:txBody>
        </p:sp>
        <p:sp>
          <p:nvSpPr>
            <p:cNvPr id="764" name="Google Shape;764;p58"/>
            <p:cNvSpPr/>
            <p:nvPr/>
          </p:nvSpPr>
          <p:spPr>
            <a:xfrm>
              <a:off x="1437600" y="2452100"/>
              <a:ext cx="711600" cy="164700"/>
            </a:xfrm>
            <a:prstGeom prst="rect">
              <a:avLst/>
            </a:prstGeom>
            <a:noFill/>
            <a:ln cap="flat" cmpd="sng" w="2857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5" name="Google Shape;765;p58"/>
          <p:cNvSpPr txBox="1"/>
          <p:nvPr/>
        </p:nvSpPr>
        <p:spPr>
          <a:xfrm>
            <a:off x="5865550" y="1121275"/>
            <a:ext cx="2199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● 기능 정의</a:t>
            </a:r>
            <a:br>
              <a:rPr lang="ko" sz="1500">
                <a:solidFill>
                  <a:schemeClr val="dk1"/>
                </a:solidFill>
              </a:rPr>
            </a:br>
            <a:r>
              <a:rPr lang="ko" sz="1500">
                <a:solidFill>
                  <a:schemeClr val="dk1"/>
                </a:solidFill>
              </a:rPr>
              <a:t>   - SW (Store World)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</a:t>
            </a:r>
            <a:r>
              <a:rPr lang="ko" sz="1500">
                <a:solidFill>
                  <a:schemeClr val="dk1"/>
                </a:solidFill>
              </a:rPr>
              <a:t>- SH (Store Half)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SB (Store Byte)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LW (Load World)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LH (Load Half)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LB (Load Byte)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59"/>
          <p:cNvSpPr txBox="1"/>
          <p:nvPr>
            <p:ph type="title"/>
          </p:nvPr>
        </p:nvSpPr>
        <p:spPr>
          <a:xfrm>
            <a:off x="61750" y="14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Memory map</a:t>
            </a:r>
            <a:endParaRPr/>
          </a:p>
        </p:txBody>
      </p:sp>
      <p:graphicFrame>
        <p:nvGraphicFramePr>
          <p:cNvPr id="771" name="Google Shape;771;p59"/>
          <p:cNvGraphicFramePr/>
          <p:nvPr/>
        </p:nvGraphicFramePr>
        <p:xfrm>
          <a:off x="140550" y="696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1939775"/>
                <a:gridCol w="1070150"/>
              </a:tblGrid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address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I/O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0x_2000_5000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0x_2000_4000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UART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0x_2000_3000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FND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0x_2000_2000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chemeClr val="dk1"/>
                          </a:solidFill>
                        </a:rPr>
                        <a:t>GPIO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0x_2000_1000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GPI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0x_2000_0000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GPO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000000"/>
                          </a:solidFill>
                        </a:rPr>
                        <a:t>0x_1000_0FFF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0x1000_0000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FF0000"/>
                          </a:solidFill>
                        </a:rPr>
                        <a:t>RAM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0x_0000_0FFF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reserve</a:t>
                      </a:r>
                      <a:endParaRPr/>
                    </a:p>
                  </a:txBody>
                  <a:tcPr marT="91425" marB="91425" marR="91425" marL="91425">
                    <a:lnT cap="flat" cmpd="sng" w="9525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8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0x0000_0000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/>
                        <a:t>ROM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cxnSp>
        <p:nvCxnSpPr>
          <p:cNvPr id="772" name="Google Shape;772;p59"/>
          <p:cNvCxnSpPr/>
          <p:nvPr/>
        </p:nvCxnSpPr>
        <p:spPr>
          <a:xfrm flipH="1">
            <a:off x="3258125" y="3868950"/>
            <a:ext cx="300" cy="39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73" name="Google Shape;773;p59"/>
          <p:cNvSpPr txBox="1"/>
          <p:nvPr/>
        </p:nvSpPr>
        <p:spPr>
          <a:xfrm>
            <a:off x="3305125" y="3865350"/>
            <a:ext cx="25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0x1000_0000 ~ 0x1000_0FFF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60"/>
          <p:cNvSpPr txBox="1"/>
          <p:nvPr/>
        </p:nvSpPr>
        <p:spPr>
          <a:xfrm>
            <a:off x="3033400" y="2095825"/>
            <a:ext cx="432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PADDR : 32Bit (0x1000_0000 ~ 0x1000_0FFF) 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779" name="Google Shape;779;p60"/>
          <p:cNvGraphicFramePr/>
          <p:nvPr/>
        </p:nvGraphicFramePr>
        <p:xfrm>
          <a:off x="3106275" y="249603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{B9ADFD43-C8C9-4482-B8C4-8DE87E6E9C6F}</a:tableStyleId>
              </a:tblPr>
              <a:tblGrid>
                <a:gridCol w="546825"/>
                <a:gridCol w="516375"/>
                <a:gridCol w="531600"/>
                <a:gridCol w="531600"/>
                <a:gridCol w="531600"/>
                <a:gridCol w="531600"/>
                <a:gridCol w="531600"/>
                <a:gridCol w="531600"/>
              </a:tblGrid>
              <a:tr h="266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BYTE8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BYTE7</a:t>
                      </a:r>
                      <a:endParaRPr sz="800"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BYTE5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BYTE4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BYTE3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BYTE2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800">
                          <a:solidFill>
                            <a:schemeClr val="dk1"/>
                          </a:solidFill>
                        </a:rPr>
                        <a:t>BYTE1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780" name="Google Shape;780;p60"/>
          <p:cNvCxnSpPr/>
          <p:nvPr/>
        </p:nvCxnSpPr>
        <p:spPr>
          <a:xfrm flipH="1" rot="10800000">
            <a:off x="4721100" y="2876750"/>
            <a:ext cx="2106300" cy="4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781" name="Google Shape;781;p60"/>
          <p:cNvSpPr txBox="1"/>
          <p:nvPr/>
        </p:nvSpPr>
        <p:spPr>
          <a:xfrm>
            <a:off x="3018075" y="3149500"/>
            <a:ext cx="43437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  PADDR [11:2]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-  0x1000_0000 ~ 0x1000_0FFF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  안에서 주소 접근을 위해 사용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   PADDR [1:0]</a:t>
            </a:r>
            <a:br>
              <a:rPr lang="ko" sz="1300">
                <a:solidFill>
                  <a:schemeClr val="dk1"/>
                </a:solidFill>
              </a:rPr>
            </a:br>
            <a:r>
              <a:rPr lang="ko" sz="1300">
                <a:solidFill>
                  <a:schemeClr val="dk1"/>
                </a:solidFill>
              </a:rPr>
              <a:t>- 하위 2bit는 W/H/B</a:t>
            </a:r>
            <a:r>
              <a:rPr lang="ko" sz="1300">
                <a:solidFill>
                  <a:schemeClr val="dk1"/>
                </a:solidFill>
              </a:rPr>
              <a:t> 구분을 위해 사용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782" name="Google Shape;782;p60"/>
          <p:cNvSpPr txBox="1"/>
          <p:nvPr>
            <p:ph idx="4294967295" type="title"/>
          </p:nvPr>
        </p:nvSpPr>
        <p:spPr>
          <a:xfrm>
            <a:off x="61750" y="1426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기능 및 신호정의</a:t>
            </a:r>
            <a:endParaRPr/>
          </a:p>
        </p:txBody>
      </p:sp>
      <p:sp>
        <p:nvSpPr>
          <p:cNvPr id="783" name="Google Shape;783;p60"/>
          <p:cNvSpPr txBox="1"/>
          <p:nvPr/>
        </p:nvSpPr>
        <p:spPr>
          <a:xfrm>
            <a:off x="130050" y="839325"/>
            <a:ext cx="21999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●   기능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</a:t>
            </a:r>
            <a:r>
              <a:rPr lang="ko" sz="1500">
                <a:solidFill>
                  <a:schemeClr val="dk1"/>
                </a:solidFill>
              </a:rPr>
              <a:t>- SW (Store World)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SH (Store Half)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SB (Store Byte)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LW (Load World)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LH (Load Half)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chemeClr val="dk1"/>
                </a:solidFill>
              </a:rPr>
              <a:t>   - LB (Load Byte)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784" name="Google Shape;784;p60"/>
          <p:cNvSpPr/>
          <p:nvPr/>
        </p:nvSpPr>
        <p:spPr>
          <a:xfrm>
            <a:off x="2032725" y="1092725"/>
            <a:ext cx="297225" cy="1714500"/>
          </a:xfrm>
          <a:custGeom>
            <a:rect b="b" l="l" r="r" t="t"/>
            <a:pathLst>
              <a:path extrusionOk="0" h="68580" w="11889">
                <a:moveTo>
                  <a:pt x="0" y="0"/>
                </a:moveTo>
                <a:cubicBezTo>
                  <a:pt x="16713" y="15599"/>
                  <a:pt x="14639" y="50295"/>
                  <a:pt x="915" y="68580"/>
                </a:cubicBez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785" name="Google Shape;785;p60"/>
          <p:cNvCxnSpPr/>
          <p:nvPr/>
        </p:nvCxnSpPr>
        <p:spPr>
          <a:xfrm flipH="1" rot="10800000">
            <a:off x="2103600" y="1166975"/>
            <a:ext cx="909900" cy="30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86" name="Google Shape;786;p60"/>
          <p:cNvSpPr txBox="1"/>
          <p:nvPr/>
        </p:nvSpPr>
        <p:spPr>
          <a:xfrm>
            <a:off x="3018075" y="975550"/>
            <a:ext cx="3326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PWRITE, PADDR[1:0]으로 구분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87" name="Google Shape;787;p60"/>
          <p:cNvSpPr txBox="1"/>
          <p:nvPr/>
        </p:nvSpPr>
        <p:spPr>
          <a:xfrm>
            <a:off x="3033400" y="1339703"/>
            <a:ext cx="2577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STORE → </a:t>
            </a:r>
            <a:r>
              <a:rPr lang="ko">
                <a:solidFill>
                  <a:srgbClr val="FF0000"/>
                </a:solidFill>
              </a:rPr>
              <a:t>PWRITE = 1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LOAD    </a:t>
            </a:r>
            <a:r>
              <a:rPr lang="ko">
                <a:solidFill>
                  <a:schemeClr val="dk1"/>
                </a:solidFill>
              </a:rPr>
              <a:t>→ </a:t>
            </a:r>
            <a:r>
              <a:rPr lang="ko">
                <a:solidFill>
                  <a:srgbClr val="FF0000"/>
                </a:solidFill>
              </a:rPr>
              <a:t>PWRITE = 0</a:t>
            </a:r>
            <a:endParaRPr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61"/>
          <p:cNvSpPr txBox="1"/>
          <p:nvPr/>
        </p:nvSpPr>
        <p:spPr>
          <a:xfrm>
            <a:off x="1140710" y="2045371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SW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mem[1] = x1 + 0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mem[2] = x2 + 0 =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mem[3] = x3 + 0 =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mem[10] = x10 + 0 = 10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793" name="Google Shape;793;p61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(sw)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794" name="Google Shape;794;p61"/>
          <p:cNvSpPr txBox="1"/>
          <p:nvPr/>
        </p:nvSpPr>
        <p:spPr>
          <a:xfrm>
            <a:off x="1140700" y="604560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ADDI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x1 = x0 + 1 = 1</a:t>
            </a:r>
            <a:br>
              <a:rPr lang="ko"/>
            </a:br>
            <a:r>
              <a:rPr lang="ko">
                <a:solidFill>
                  <a:schemeClr val="dk1"/>
                </a:solidFill>
              </a:rPr>
              <a:t>x2 = x0 + 2 = 2</a:t>
            </a:r>
            <a:br>
              <a:rPr lang="ko">
                <a:solidFill>
                  <a:schemeClr val="dk1"/>
                </a:solidFill>
              </a:rPr>
            </a:br>
            <a:r>
              <a:rPr lang="ko">
                <a:solidFill>
                  <a:schemeClr val="dk1"/>
                </a:solidFill>
              </a:rPr>
              <a:t>x3 = x0 + 3 =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x10 = x0 + 10 = 10 </a:t>
            </a:r>
            <a:endParaRPr/>
          </a:p>
        </p:txBody>
      </p:sp>
      <p:cxnSp>
        <p:nvCxnSpPr>
          <p:cNvPr id="795" name="Google Shape;795;p61"/>
          <p:cNvCxnSpPr/>
          <p:nvPr/>
        </p:nvCxnSpPr>
        <p:spPr>
          <a:xfrm flipH="1" rot="10800000">
            <a:off x="1721800" y="795250"/>
            <a:ext cx="2669700" cy="72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6" name="Google Shape;796;p61"/>
          <p:cNvSpPr txBox="1"/>
          <p:nvPr/>
        </p:nvSpPr>
        <p:spPr>
          <a:xfrm>
            <a:off x="4489000" y="640012"/>
            <a:ext cx="2760600" cy="63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0000"/>
                </a:solidFill>
              </a:rPr>
              <a:t>reg file[1] ~</a:t>
            </a:r>
            <a:r>
              <a:rPr lang="ko" sz="1500">
                <a:solidFill>
                  <a:srgbClr val="FF0000"/>
                </a:solidFill>
              </a:rPr>
              <a:t> reg file[10]</a:t>
            </a:r>
            <a:br>
              <a:rPr lang="ko" sz="1500">
                <a:solidFill>
                  <a:srgbClr val="FF0000"/>
                </a:solidFill>
              </a:rPr>
            </a:br>
            <a:r>
              <a:rPr lang="ko" sz="1500">
                <a:solidFill>
                  <a:srgbClr val="FF0000"/>
                </a:solidFill>
              </a:rPr>
              <a:t>Addi를 </a:t>
            </a:r>
            <a:r>
              <a:rPr lang="ko" sz="1500">
                <a:solidFill>
                  <a:srgbClr val="FF0000"/>
                </a:solidFill>
              </a:rPr>
              <a:t>이용해서  </a:t>
            </a:r>
            <a:r>
              <a:rPr lang="ko" sz="1500">
                <a:solidFill>
                  <a:srgbClr val="FF0000"/>
                </a:solidFill>
              </a:rPr>
              <a:t>1~10 저장 </a:t>
            </a:r>
            <a:endParaRPr sz="1500"/>
          </a:p>
        </p:txBody>
      </p:sp>
      <p:cxnSp>
        <p:nvCxnSpPr>
          <p:cNvPr id="797" name="Google Shape;797;p61"/>
          <p:cNvCxnSpPr/>
          <p:nvPr/>
        </p:nvCxnSpPr>
        <p:spPr>
          <a:xfrm flipH="1" rot="10800000">
            <a:off x="1594700" y="2232675"/>
            <a:ext cx="2867100" cy="17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98" name="Google Shape;798;p61"/>
          <p:cNvSpPr txBox="1"/>
          <p:nvPr/>
        </p:nvSpPr>
        <p:spPr>
          <a:xfrm>
            <a:off x="4547950" y="1982700"/>
            <a:ext cx="3416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0000"/>
                </a:solidFill>
              </a:rPr>
              <a:t>mem</a:t>
            </a:r>
            <a:r>
              <a:rPr lang="ko" sz="1500">
                <a:solidFill>
                  <a:srgbClr val="FF0000"/>
                </a:solidFill>
              </a:rPr>
              <a:t>[1] ~ mem[10]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0000"/>
                </a:solidFill>
              </a:rPr>
              <a:t>reg file[</a:t>
            </a:r>
            <a:r>
              <a:rPr lang="ko" sz="1500">
                <a:solidFill>
                  <a:srgbClr val="FF0000"/>
                </a:solidFill>
              </a:rPr>
              <a:t>1~10]</a:t>
            </a:r>
            <a:r>
              <a:rPr lang="ko" sz="1500">
                <a:solidFill>
                  <a:srgbClr val="FF0000"/>
                </a:solidFill>
              </a:rPr>
              <a:t> </a:t>
            </a:r>
            <a:r>
              <a:rPr lang="ko" sz="1500">
                <a:solidFill>
                  <a:srgbClr val="FF0000"/>
                </a:solidFill>
              </a:rPr>
              <a:t>값 </a:t>
            </a:r>
            <a:r>
              <a:rPr lang="ko" sz="1500">
                <a:solidFill>
                  <a:srgbClr val="FF0000"/>
                </a:solidFill>
              </a:rPr>
              <a:t>저장 </a:t>
            </a:r>
            <a:endParaRPr sz="1500"/>
          </a:p>
        </p:txBody>
      </p:sp>
      <p:pic>
        <p:nvPicPr>
          <p:cNvPr id="799" name="Google Shape;799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075" y="604550"/>
            <a:ext cx="950575" cy="435915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1"/>
          <p:cNvSpPr txBox="1"/>
          <p:nvPr/>
        </p:nvSpPr>
        <p:spPr>
          <a:xfrm>
            <a:off x="1182085" y="3486196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0000"/>
                </a:solidFill>
              </a:rPr>
              <a:t>LW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mem[1] = x1 + 0 = 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mem[2] = x2 + 0 = 2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mem[3] = x3 + 0 = 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             ：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chemeClr val="dk1"/>
                </a:solidFill>
              </a:rPr>
              <a:t>mem[10] = x10 + 0 = 10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01" name="Google Shape;801;p61"/>
          <p:cNvCxnSpPr/>
          <p:nvPr/>
        </p:nvCxnSpPr>
        <p:spPr>
          <a:xfrm flipH="1" rot="10800000">
            <a:off x="1618550" y="3675950"/>
            <a:ext cx="2825700" cy="111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2" name="Google Shape;802;p61"/>
          <p:cNvSpPr txBox="1"/>
          <p:nvPr/>
        </p:nvSpPr>
        <p:spPr>
          <a:xfrm>
            <a:off x="4461800" y="3440650"/>
            <a:ext cx="34167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0000"/>
                </a:solidFill>
              </a:rPr>
              <a:t>reg file[1] ~ reg file[10]에</a:t>
            </a:r>
            <a:br>
              <a:rPr lang="ko" sz="1500">
                <a:solidFill>
                  <a:srgbClr val="FF0000"/>
                </a:solidFill>
              </a:rPr>
            </a:br>
            <a:r>
              <a:rPr lang="ko" sz="1500">
                <a:solidFill>
                  <a:srgbClr val="FF0000"/>
                </a:solidFill>
              </a:rPr>
              <a:t>mem[1] ~ mem[10] </a:t>
            </a:r>
            <a:r>
              <a:rPr lang="ko" sz="1500">
                <a:solidFill>
                  <a:srgbClr val="FF0000"/>
                </a:solidFill>
              </a:rPr>
              <a:t>들어있는 값 저장</a:t>
            </a:r>
            <a:endParaRPr sz="150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7" name="Google Shape;807;p62"/>
          <p:cNvPicPr preferRelativeResize="0"/>
          <p:nvPr/>
        </p:nvPicPr>
        <p:blipFill rotWithShape="1">
          <a:blip r:embed="rId3">
            <a:alphaModFix/>
          </a:blip>
          <a:srcRect b="13495" l="0" r="0" t="0"/>
          <a:stretch/>
        </p:blipFill>
        <p:spPr>
          <a:xfrm>
            <a:off x="933725" y="133463"/>
            <a:ext cx="7519525" cy="24944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2"/>
          <p:cNvSpPr/>
          <p:nvPr/>
        </p:nvSpPr>
        <p:spPr>
          <a:xfrm>
            <a:off x="5684650" y="1549863"/>
            <a:ext cx="2477700" cy="98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9" name="Google Shape;809;p6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33725" y="2690613"/>
            <a:ext cx="7519524" cy="2401226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2"/>
          <p:cNvSpPr/>
          <p:nvPr/>
        </p:nvSpPr>
        <p:spPr>
          <a:xfrm>
            <a:off x="2242025" y="3168313"/>
            <a:ext cx="6159900" cy="383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62"/>
          <p:cNvSpPr txBox="1"/>
          <p:nvPr/>
        </p:nvSpPr>
        <p:spPr>
          <a:xfrm>
            <a:off x="1998686" y="2941738"/>
            <a:ext cx="748200" cy="27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00">
                <a:solidFill>
                  <a:srgbClr val="FF0000"/>
                </a:solidFill>
              </a:rPr>
              <a:t>ADDR : 1000_0004 </a:t>
            </a:r>
            <a:br>
              <a:rPr b="1" lang="ko" sz="500">
                <a:solidFill>
                  <a:srgbClr val="FF0000"/>
                </a:solidFill>
              </a:rPr>
            </a:br>
            <a:r>
              <a:rPr b="1" lang="ko" sz="500">
                <a:solidFill>
                  <a:srgbClr val="FF0000"/>
                </a:solidFill>
              </a:rPr>
              <a:t>WDATA : 1</a:t>
            </a:r>
            <a:endParaRPr b="1" sz="500"/>
          </a:p>
        </p:txBody>
      </p:sp>
      <p:sp>
        <p:nvSpPr>
          <p:cNvPr id="812" name="Google Shape;812;p62"/>
          <p:cNvSpPr/>
          <p:nvPr/>
        </p:nvSpPr>
        <p:spPr>
          <a:xfrm>
            <a:off x="5713550" y="3849913"/>
            <a:ext cx="2688300" cy="1083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62"/>
          <p:cNvSpPr txBox="1"/>
          <p:nvPr/>
        </p:nvSpPr>
        <p:spPr>
          <a:xfrm>
            <a:off x="7574611" y="3951388"/>
            <a:ext cx="748200" cy="27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00">
                <a:solidFill>
                  <a:srgbClr val="FF0000"/>
                </a:solidFill>
              </a:rPr>
              <a:t>SW 명령어 결과</a:t>
            </a:r>
            <a:endParaRPr b="1" sz="5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8" name="Google Shape;818;p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550" y="1152000"/>
            <a:ext cx="8839198" cy="3864130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p63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(LW)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820" name="Google Shape;820;p63"/>
          <p:cNvSpPr txBox="1"/>
          <p:nvPr/>
        </p:nvSpPr>
        <p:spPr>
          <a:xfrm>
            <a:off x="8140386" y="3117013"/>
            <a:ext cx="748200" cy="27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500">
                <a:solidFill>
                  <a:srgbClr val="FF0000"/>
                </a:solidFill>
              </a:rPr>
              <a:t>L</a:t>
            </a:r>
            <a:r>
              <a:rPr b="1" lang="ko" sz="500">
                <a:solidFill>
                  <a:srgbClr val="FF0000"/>
                </a:solidFill>
              </a:rPr>
              <a:t>W 명령어 결과</a:t>
            </a:r>
            <a:endParaRPr b="1" sz="5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64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(sw)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826" name="Google Shape;826;p64"/>
          <p:cNvPicPr preferRelativeResize="0"/>
          <p:nvPr/>
        </p:nvPicPr>
        <p:blipFill rotWithShape="1">
          <a:blip r:embed="rId3">
            <a:alphaModFix/>
          </a:blip>
          <a:srcRect b="0" l="0" r="14060" t="0"/>
          <a:stretch/>
        </p:blipFill>
        <p:spPr>
          <a:xfrm>
            <a:off x="152400" y="628325"/>
            <a:ext cx="5950275" cy="4378176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64"/>
          <p:cNvSpPr/>
          <p:nvPr/>
        </p:nvSpPr>
        <p:spPr>
          <a:xfrm>
            <a:off x="3928000" y="1161550"/>
            <a:ext cx="476100" cy="227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8" name="Google Shape;828;p64"/>
          <p:cNvSpPr txBox="1"/>
          <p:nvPr/>
        </p:nvSpPr>
        <p:spPr>
          <a:xfrm>
            <a:off x="6241888" y="1075000"/>
            <a:ext cx="257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chemeClr val="dk1"/>
                </a:solidFill>
              </a:rPr>
              <a:t>ROM CODE : 001f2223</a:t>
            </a:r>
            <a:endParaRPr>
              <a:solidFill>
                <a:schemeClr val="dk1"/>
              </a:solidFill>
            </a:endParaRPr>
          </a:p>
        </p:txBody>
      </p:sp>
      <p:cxnSp>
        <p:nvCxnSpPr>
          <p:cNvPr id="829" name="Google Shape;829;p64"/>
          <p:cNvCxnSpPr>
            <a:stCxn id="827" idx="3"/>
            <a:endCxn id="828" idx="1"/>
          </p:cNvCxnSpPr>
          <p:nvPr/>
        </p:nvCxnSpPr>
        <p:spPr>
          <a:xfrm>
            <a:off x="4404100" y="1275100"/>
            <a:ext cx="18378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0" name="Google Shape;830;p64"/>
          <p:cNvSpPr txBox="1"/>
          <p:nvPr/>
        </p:nvSpPr>
        <p:spPr>
          <a:xfrm>
            <a:off x="6241875" y="1364525"/>
            <a:ext cx="2902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dk1"/>
                </a:solidFill>
              </a:rPr>
              <a:t>0000_0000_0001_1111_0010_0010_0010_0011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31" name="Google Shape;831;p64"/>
          <p:cNvSpPr txBox="1"/>
          <p:nvPr/>
        </p:nvSpPr>
        <p:spPr>
          <a:xfrm>
            <a:off x="6241901" y="1665463"/>
            <a:ext cx="26187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rgbClr val="FF0000"/>
                </a:solidFill>
              </a:rPr>
              <a:t>assembly → sw rs2, 4(rs1)</a:t>
            </a:r>
            <a:endParaRPr sz="1000"/>
          </a:p>
        </p:txBody>
      </p:sp>
      <p:sp>
        <p:nvSpPr>
          <p:cNvPr id="832" name="Google Shape;832;p64"/>
          <p:cNvSpPr txBox="1"/>
          <p:nvPr/>
        </p:nvSpPr>
        <p:spPr>
          <a:xfrm>
            <a:off x="2267256" y="1833354"/>
            <a:ext cx="11880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CPU → MASTER</a:t>
            </a:r>
            <a:endParaRPr b="1" sz="1000"/>
          </a:p>
        </p:txBody>
      </p:sp>
      <p:sp>
        <p:nvSpPr>
          <p:cNvPr id="833" name="Google Shape;833;p64"/>
          <p:cNvSpPr txBox="1"/>
          <p:nvPr/>
        </p:nvSpPr>
        <p:spPr>
          <a:xfrm>
            <a:off x="3631950" y="1878600"/>
            <a:ext cx="5226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WREQ</a:t>
            </a:r>
            <a:endParaRPr b="1" sz="800"/>
          </a:p>
        </p:txBody>
      </p:sp>
      <p:sp>
        <p:nvSpPr>
          <p:cNvPr id="834" name="Google Shape;834;p64"/>
          <p:cNvSpPr txBox="1"/>
          <p:nvPr/>
        </p:nvSpPr>
        <p:spPr>
          <a:xfrm>
            <a:off x="3633114" y="2002121"/>
            <a:ext cx="5145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</a:t>
            </a:r>
            <a:r>
              <a:rPr b="1" lang="ko" sz="800">
                <a:solidFill>
                  <a:srgbClr val="FF0000"/>
                </a:solidFill>
              </a:rPr>
              <a:t>REQ</a:t>
            </a:r>
            <a:endParaRPr b="1" sz="800"/>
          </a:p>
        </p:txBody>
      </p:sp>
      <p:sp>
        <p:nvSpPr>
          <p:cNvPr id="835" name="Google Shape;835;p64"/>
          <p:cNvSpPr txBox="1"/>
          <p:nvPr/>
        </p:nvSpPr>
        <p:spPr>
          <a:xfrm>
            <a:off x="3629111" y="2128691"/>
            <a:ext cx="5226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ADDR</a:t>
            </a:r>
            <a:endParaRPr b="1" sz="800"/>
          </a:p>
        </p:txBody>
      </p:sp>
      <p:sp>
        <p:nvSpPr>
          <p:cNvPr id="836" name="Google Shape;836;p64"/>
          <p:cNvSpPr txBox="1"/>
          <p:nvPr/>
        </p:nvSpPr>
        <p:spPr>
          <a:xfrm>
            <a:off x="3627182" y="2228925"/>
            <a:ext cx="5532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WDATA</a:t>
            </a:r>
            <a:endParaRPr b="1" sz="800"/>
          </a:p>
        </p:txBody>
      </p:sp>
      <p:sp>
        <p:nvSpPr>
          <p:cNvPr id="837" name="Google Shape;837;p64"/>
          <p:cNvSpPr txBox="1"/>
          <p:nvPr/>
        </p:nvSpPr>
        <p:spPr>
          <a:xfrm>
            <a:off x="3640389" y="2331207"/>
            <a:ext cx="5532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</a:t>
            </a:r>
            <a:r>
              <a:rPr b="1" lang="ko" sz="800">
                <a:solidFill>
                  <a:srgbClr val="FF0000"/>
                </a:solidFill>
              </a:rPr>
              <a:t>DATA</a:t>
            </a:r>
            <a:endParaRPr b="1" sz="800"/>
          </a:p>
        </p:txBody>
      </p:sp>
      <p:sp>
        <p:nvSpPr>
          <p:cNvPr id="838" name="Google Shape;838;p64"/>
          <p:cNvSpPr txBox="1"/>
          <p:nvPr/>
        </p:nvSpPr>
        <p:spPr>
          <a:xfrm>
            <a:off x="4160250" y="1885300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39" name="Google Shape;839;p64"/>
          <p:cNvSpPr txBox="1"/>
          <p:nvPr/>
        </p:nvSpPr>
        <p:spPr>
          <a:xfrm>
            <a:off x="4023537" y="3038550"/>
            <a:ext cx="7350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1000_0004</a:t>
            </a:r>
            <a:endParaRPr b="1" sz="800"/>
          </a:p>
        </p:txBody>
      </p:sp>
      <p:sp>
        <p:nvSpPr>
          <p:cNvPr id="840" name="Google Shape;840;p64"/>
          <p:cNvSpPr txBox="1"/>
          <p:nvPr/>
        </p:nvSpPr>
        <p:spPr>
          <a:xfrm>
            <a:off x="4213158" y="2212029"/>
            <a:ext cx="3600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41" name="Google Shape;841;p64"/>
          <p:cNvSpPr txBox="1"/>
          <p:nvPr/>
        </p:nvSpPr>
        <p:spPr>
          <a:xfrm>
            <a:off x="2162388" y="2571750"/>
            <a:ext cx="13599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MASTER → SLAVE</a:t>
            </a:r>
            <a:endParaRPr b="1" sz="1000"/>
          </a:p>
        </p:txBody>
      </p:sp>
      <p:sp>
        <p:nvSpPr>
          <p:cNvPr id="842" name="Google Shape;842;p64"/>
          <p:cNvSpPr txBox="1"/>
          <p:nvPr/>
        </p:nvSpPr>
        <p:spPr>
          <a:xfrm>
            <a:off x="3633784" y="2808714"/>
            <a:ext cx="5226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WREQ</a:t>
            </a:r>
            <a:endParaRPr b="1" sz="800"/>
          </a:p>
        </p:txBody>
      </p:sp>
      <p:sp>
        <p:nvSpPr>
          <p:cNvPr id="843" name="Google Shape;843;p64"/>
          <p:cNvSpPr txBox="1"/>
          <p:nvPr/>
        </p:nvSpPr>
        <p:spPr>
          <a:xfrm>
            <a:off x="3634948" y="2932235"/>
            <a:ext cx="514500" cy="1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RREQ</a:t>
            </a:r>
            <a:endParaRPr b="1" sz="800"/>
          </a:p>
        </p:txBody>
      </p:sp>
      <p:sp>
        <p:nvSpPr>
          <p:cNvPr id="844" name="Google Shape;844;p64"/>
          <p:cNvSpPr txBox="1"/>
          <p:nvPr/>
        </p:nvSpPr>
        <p:spPr>
          <a:xfrm>
            <a:off x="3630944" y="3058805"/>
            <a:ext cx="5226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ADDR</a:t>
            </a:r>
            <a:endParaRPr b="1" sz="800"/>
          </a:p>
        </p:txBody>
      </p:sp>
      <p:sp>
        <p:nvSpPr>
          <p:cNvPr id="845" name="Google Shape;845;p64"/>
          <p:cNvSpPr txBox="1"/>
          <p:nvPr/>
        </p:nvSpPr>
        <p:spPr>
          <a:xfrm>
            <a:off x="3629015" y="3159039"/>
            <a:ext cx="5532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WDATA</a:t>
            </a:r>
            <a:endParaRPr b="1" sz="800"/>
          </a:p>
        </p:txBody>
      </p:sp>
      <p:sp>
        <p:nvSpPr>
          <p:cNvPr id="846" name="Google Shape;846;p64"/>
          <p:cNvSpPr txBox="1"/>
          <p:nvPr/>
        </p:nvSpPr>
        <p:spPr>
          <a:xfrm>
            <a:off x="3642223" y="3261321"/>
            <a:ext cx="553200" cy="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RDATA</a:t>
            </a:r>
            <a:endParaRPr b="1" sz="800"/>
          </a:p>
        </p:txBody>
      </p:sp>
      <p:sp>
        <p:nvSpPr>
          <p:cNvPr id="847" name="Google Shape;847;p64"/>
          <p:cNvSpPr txBox="1"/>
          <p:nvPr/>
        </p:nvSpPr>
        <p:spPr>
          <a:xfrm>
            <a:off x="4166950" y="2832900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48" name="Google Shape;848;p64"/>
          <p:cNvSpPr txBox="1"/>
          <p:nvPr/>
        </p:nvSpPr>
        <p:spPr>
          <a:xfrm>
            <a:off x="4175689" y="3157500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49" name="Google Shape;849;p64"/>
          <p:cNvSpPr txBox="1"/>
          <p:nvPr/>
        </p:nvSpPr>
        <p:spPr>
          <a:xfrm>
            <a:off x="4036133" y="2100531"/>
            <a:ext cx="7350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1000_0004</a:t>
            </a:r>
            <a:endParaRPr b="1" sz="800"/>
          </a:p>
        </p:txBody>
      </p:sp>
      <p:sp>
        <p:nvSpPr>
          <p:cNvPr id="850" name="Google Shape;850;p64"/>
          <p:cNvSpPr txBox="1"/>
          <p:nvPr/>
        </p:nvSpPr>
        <p:spPr>
          <a:xfrm>
            <a:off x="4664525" y="3653150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51" name="Google Shape;851;p64"/>
          <p:cNvSpPr txBox="1"/>
          <p:nvPr/>
        </p:nvSpPr>
        <p:spPr>
          <a:xfrm>
            <a:off x="3610388" y="3644881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PWRITE</a:t>
            </a:r>
            <a:endParaRPr b="1" sz="800"/>
          </a:p>
        </p:txBody>
      </p:sp>
      <p:sp>
        <p:nvSpPr>
          <p:cNvPr id="852" name="Google Shape;852;p64"/>
          <p:cNvSpPr txBox="1"/>
          <p:nvPr/>
        </p:nvSpPr>
        <p:spPr>
          <a:xfrm>
            <a:off x="3474956" y="3749394"/>
            <a:ext cx="7641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853" name="Google Shape;853;p64"/>
          <p:cNvSpPr txBox="1"/>
          <p:nvPr/>
        </p:nvSpPr>
        <p:spPr>
          <a:xfrm>
            <a:off x="5153375" y="3762142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54" name="Google Shape;854;p64"/>
          <p:cNvSpPr txBox="1"/>
          <p:nvPr/>
        </p:nvSpPr>
        <p:spPr>
          <a:xfrm>
            <a:off x="3620610" y="4050694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</a:t>
            </a:r>
            <a:endParaRPr b="1" sz="800"/>
          </a:p>
        </p:txBody>
      </p:sp>
      <p:sp>
        <p:nvSpPr>
          <p:cNvPr id="855" name="Google Shape;855;p64"/>
          <p:cNvSpPr txBox="1"/>
          <p:nvPr/>
        </p:nvSpPr>
        <p:spPr>
          <a:xfrm>
            <a:off x="4623729" y="4072541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PSEL0</a:t>
            </a:r>
            <a:endParaRPr b="1" sz="800"/>
          </a:p>
        </p:txBody>
      </p:sp>
      <p:sp>
        <p:nvSpPr>
          <p:cNvPr id="856" name="Google Shape;856;p64"/>
          <p:cNvSpPr txBox="1"/>
          <p:nvPr/>
        </p:nvSpPr>
        <p:spPr>
          <a:xfrm>
            <a:off x="4190650" y="2581900"/>
            <a:ext cx="4050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IDLE</a:t>
            </a:r>
            <a:endParaRPr b="1" sz="600"/>
          </a:p>
        </p:txBody>
      </p:sp>
      <p:sp>
        <p:nvSpPr>
          <p:cNvPr id="857" name="Google Shape;857;p64"/>
          <p:cNvSpPr txBox="1"/>
          <p:nvPr/>
        </p:nvSpPr>
        <p:spPr>
          <a:xfrm>
            <a:off x="4655241" y="2579474"/>
            <a:ext cx="45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SETUP</a:t>
            </a:r>
            <a:endParaRPr b="1" sz="600"/>
          </a:p>
        </p:txBody>
      </p:sp>
      <p:sp>
        <p:nvSpPr>
          <p:cNvPr id="858" name="Google Shape;858;p64"/>
          <p:cNvSpPr txBox="1"/>
          <p:nvPr/>
        </p:nvSpPr>
        <p:spPr>
          <a:xfrm>
            <a:off x="5116925" y="2579474"/>
            <a:ext cx="5058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ACCESS</a:t>
            </a:r>
            <a:endParaRPr b="1" sz="600"/>
          </a:p>
        </p:txBody>
      </p:sp>
      <p:sp>
        <p:nvSpPr>
          <p:cNvPr id="859" name="Google Shape;859;p64"/>
          <p:cNvSpPr txBox="1"/>
          <p:nvPr/>
        </p:nvSpPr>
        <p:spPr>
          <a:xfrm>
            <a:off x="4669500" y="3756425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0</a:t>
            </a:r>
            <a:endParaRPr b="1" sz="8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4" name="Google Shape;864;p65"/>
          <p:cNvPicPr preferRelativeResize="0"/>
          <p:nvPr/>
        </p:nvPicPr>
        <p:blipFill rotWithShape="1">
          <a:blip r:embed="rId3">
            <a:alphaModFix/>
          </a:blip>
          <a:srcRect b="0" l="0" r="4916" t="0"/>
          <a:stretch/>
        </p:blipFill>
        <p:spPr>
          <a:xfrm>
            <a:off x="47925" y="740900"/>
            <a:ext cx="7446700" cy="28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865" name="Google Shape;865;p65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(sw)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866" name="Google Shape;866;p65"/>
          <p:cNvSpPr txBox="1"/>
          <p:nvPr/>
        </p:nvSpPr>
        <p:spPr>
          <a:xfrm>
            <a:off x="4292524" y="1595175"/>
            <a:ext cx="4050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IDLE</a:t>
            </a:r>
            <a:endParaRPr b="1" sz="600"/>
          </a:p>
        </p:txBody>
      </p:sp>
      <p:sp>
        <p:nvSpPr>
          <p:cNvPr id="867" name="Google Shape;867;p65"/>
          <p:cNvSpPr txBox="1"/>
          <p:nvPr/>
        </p:nvSpPr>
        <p:spPr>
          <a:xfrm>
            <a:off x="4808440" y="1592749"/>
            <a:ext cx="4524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SETUP</a:t>
            </a:r>
            <a:endParaRPr b="1" sz="600"/>
          </a:p>
        </p:txBody>
      </p:sp>
      <p:sp>
        <p:nvSpPr>
          <p:cNvPr id="868" name="Google Shape;868;p65"/>
          <p:cNvSpPr txBox="1"/>
          <p:nvPr/>
        </p:nvSpPr>
        <p:spPr>
          <a:xfrm>
            <a:off x="5315774" y="1592749"/>
            <a:ext cx="5058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ACCESS</a:t>
            </a:r>
            <a:endParaRPr b="1" sz="600"/>
          </a:p>
        </p:txBody>
      </p:sp>
      <p:sp>
        <p:nvSpPr>
          <p:cNvPr id="869" name="Google Shape;869;p65"/>
          <p:cNvSpPr txBox="1"/>
          <p:nvPr/>
        </p:nvSpPr>
        <p:spPr>
          <a:xfrm>
            <a:off x="4802835" y="2011075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70" name="Google Shape;870;p65"/>
          <p:cNvSpPr txBox="1"/>
          <p:nvPr/>
        </p:nvSpPr>
        <p:spPr>
          <a:xfrm>
            <a:off x="4802835" y="212293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71" name="Google Shape;871;p65"/>
          <p:cNvSpPr txBox="1"/>
          <p:nvPr/>
        </p:nvSpPr>
        <p:spPr>
          <a:xfrm>
            <a:off x="5336860" y="2245050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72" name="Google Shape;872;p65"/>
          <p:cNvSpPr txBox="1"/>
          <p:nvPr/>
        </p:nvSpPr>
        <p:spPr>
          <a:xfrm>
            <a:off x="4244764" y="2000856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PWRITE</a:t>
            </a:r>
            <a:endParaRPr b="1" sz="800"/>
          </a:p>
        </p:txBody>
      </p:sp>
      <p:sp>
        <p:nvSpPr>
          <p:cNvPr id="873" name="Google Shape;873;p65"/>
          <p:cNvSpPr txBox="1"/>
          <p:nvPr/>
        </p:nvSpPr>
        <p:spPr>
          <a:xfrm>
            <a:off x="4154331" y="2245044"/>
            <a:ext cx="7641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874" name="Google Shape;874;p65"/>
          <p:cNvSpPr txBox="1"/>
          <p:nvPr/>
        </p:nvSpPr>
        <p:spPr>
          <a:xfrm>
            <a:off x="4244785" y="2122932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</a:t>
            </a:r>
            <a:endParaRPr b="1" sz="800"/>
          </a:p>
        </p:txBody>
      </p:sp>
      <p:sp>
        <p:nvSpPr>
          <p:cNvPr id="875" name="Google Shape;875;p65"/>
          <p:cNvSpPr txBox="1"/>
          <p:nvPr/>
        </p:nvSpPr>
        <p:spPr>
          <a:xfrm>
            <a:off x="3210295" y="1557343"/>
            <a:ext cx="934200" cy="21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APB SLAVE</a:t>
            </a:r>
            <a:endParaRPr b="1" sz="1000"/>
          </a:p>
        </p:txBody>
      </p:sp>
      <p:sp>
        <p:nvSpPr>
          <p:cNvPr id="876" name="Google Shape;876;p65"/>
          <p:cNvSpPr txBox="1"/>
          <p:nvPr/>
        </p:nvSpPr>
        <p:spPr>
          <a:xfrm>
            <a:off x="4154331" y="2366619"/>
            <a:ext cx="7641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PADDR</a:t>
            </a:r>
            <a:endParaRPr b="1" sz="800"/>
          </a:p>
        </p:txBody>
      </p:sp>
      <p:sp>
        <p:nvSpPr>
          <p:cNvPr id="877" name="Google Shape;877;p65"/>
          <p:cNvSpPr txBox="1"/>
          <p:nvPr/>
        </p:nvSpPr>
        <p:spPr>
          <a:xfrm>
            <a:off x="4165739" y="2479019"/>
            <a:ext cx="7641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PWDATA</a:t>
            </a:r>
            <a:endParaRPr b="1" sz="800"/>
          </a:p>
        </p:txBody>
      </p:sp>
      <p:sp>
        <p:nvSpPr>
          <p:cNvPr id="878" name="Google Shape;878;p65"/>
          <p:cNvSpPr txBox="1"/>
          <p:nvPr/>
        </p:nvSpPr>
        <p:spPr>
          <a:xfrm>
            <a:off x="4827660" y="246761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79" name="Google Shape;879;p65"/>
          <p:cNvSpPr txBox="1"/>
          <p:nvPr/>
        </p:nvSpPr>
        <p:spPr>
          <a:xfrm>
            <a:off x="4626459" y="2351229"/>
            <a:ext cx="8358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1000_0004</a:t>
            </a:r>
            <a:endParaRPr b="1" sz="800"/>
          </a:p>
        </p:txBody>
      </p:sp>
      <p:sp>
        <p:nvSpPr>
          <p:cNvPr id="880" name="Google Shape;880;p65"/>
          <p:cNvSpPr/>
          <p:nvPr/>
        </p:nvSpPr>
        <p:spPr>
          <a:xfrm>
            <a:off x="6101050" y="2306425"/>
            <a:ext cx="476100" cy="2946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81" name="Google Shape;881;p65"/>
          <p:cNvCxnSpPr/>
          <p:nvPr/>
        </p:nvCxnSpPr>
        <p:spPr>
          <a:xfrm>
            <a:off x="6491125" y="2307600"/>
            <a:ext cx="1186800" cy="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2" name="Google Shape;882;p65"/>
          <p:cNvSpPr txBox="1"/>
          <p:nvPr/>
        </p:nvSpPr>
        <p:spPr>
          <a:xfrm>
            <a:off x="7598903" y="2245050"/>
            <a:ext cx="6747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PADDR</a:t>
            </a:r>
            <a:endParaRPr b="1" sz="1000"/>
          </a:p>
        </p:txBody>
      </p:sp>
      <p:sp>
        <p:nvSpPr>
          <p:cNvPr id="883" name="Google Shape;883;p65"/>
          <p:cNvSpPr txBox="1"/>
          <p:nvPr/>
        </p:nvSpPr>
        <p:spPr>
          <a:xfrm>
            <a:off x="7620042" y="2305101"/>
            <a:ext cx="14019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MEM[0] : 1000_0000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MEM[1] : 1000_0004</a:t>
            </a:r>
            <a:endParaRPr b="1" sz="10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chemeClr val="dk1"/>
                </a:solidFill>
              </a:rPr>
              <a:t>MEM[2] : 1000_0008</a:t>
            </a:r>
            <a:br>
              <a:rPr b="1" lang="ko" sz="1000">
                <a:solidFill>
                  <a:schemeClr val="dk1"/>
                </a:solidFill>
              </a:rPr>
            </a:br>
            <a:r>
              <a:rPr b="1" lang="ko" sz="1000">
                <a:solidFill>
                  <a:schemeClr val="dk1"/>
                </a:solidFill>
              </a:rPr>
              <a:t>             ：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      </a:t>
            </a:r>
            <a:endParaRPr b="1" sz="1000">
              <a:solidFill>
                <a:srgbClr val="FF0000"/>
              </a:solidFill>
            </a:endParaRPr>
          </a:p>
        </p:txBody>
      </p:sp>
      <p:sp>
        <p:nvSpPr>
          <p:cNvPr id="884" name="Google Shape;884;p65"/>
          <p:cNvSpPr/>
          <p:nvPr/>
        </p:nvSpPr>
        <p:spPr>
          <a:xfrm>
            <a:off x="173425" y="3011750"/>
            <a:ext cx="7293300" cy="210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5" name="Google Shape;885;p65"/>
          <p:cNvSpPr txBox="1"/>
          <p:nvPr/>
        </p:nvSpPr>
        <p:spPr>
          <a:xfrm>
            <a:off x="5155576" y="3035750"/>
            <a:ext cx="608100" cy="16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600">
                <a:solidFill>
                  <a:srgbClr val="FF0000"/>
                </a:solidFill>
              </a:rPr>
              <a:t>MEM[1]</a:t>
            </a:r>
            <a:endParaRPr b="1" sz="600"/>
          </a:p>
        </p:txBody>
      </p:sp>
      <p:sp>
        <p:nvSpPr>
          <p:cNvPr id="886" name="Google Shape;886;p65"/>
          <p:cNvSpPr txBox="1"/>
          <p:nvPr/>
        </p:nvSpPr>
        <p:spPr>
          <a:xfrm>
            <a:off x="5336860" y="2709375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87" name="Google Shape;887;p65"/>
          <p:cNvSpPr txBox="1"/>
          <p:nvPr/>
        </p:nvSpPr>
        <p:spPr>
          <a:xfrm>
            <a:off x="6820744" y="3049165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p66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(LW)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893" name="Google Shape;893;p6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69924"/>
            <a:ext cx="8839198" cy="2706248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66"/>
          <p:cNvSpPr txBox="1"/>
          <p:nvPr/>
        </p:nvSpPr>
        <p:spPr>
          <a:xfrm>
            <a:off x="2488085" y="263028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895" name="Google Shape;895;p66"/>
          <p:cNvSpPr txBox="1"/>
          <p:nvPr/>
        </p:nvSpPr>
        <p:spPr>
          <a:xfrm>
            <a:off x="2092185" y="2481683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WREQ</a:t>
            </a:r>
            <a:endParaRPr b="1" sz="800"/>
          </a:p>
        </p:txBody>
      </p:sp>
      <p:sp>
        <p:nvSpPr>
          <p:cNvPr id="896" name="Google Shape;896;p66"/>
          <p:cNvSpPr txBox="1"/>
          <p:nvPr/>
        </p:nvSpPr>
        <p:spPr>
          <a:xfrm>
            <a:off x="2092185" y="2630307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</a:t>
            </a:r>
            <a:r>
              <a:rPr b="1" lang="ko" sz="800">
                <a:solidFill>
                  <a:srgbClr val="FF0000"/>
                </a:solidFill>
              </a:rPr>
              <a:t>REQ</a:t>
            </a:r>
            <a:endParaRPr b="1" sz="800"/>
          </a:p>
        </p:txBody>
      </p:sp>
      <p:sp>
        <p:nvSpPr>
          <p:cNvPr id="897" name="Google Shape;897;p66"/>
          <p:cNvSpPr txBox="1"/>
          <p:nvPr/>
        </p:nvSpPr>
        <p:spPr>
          <a:xfrm>
            <a:off x="2488085" y="2481663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0</a:t>
            </a:r>
            <a:endParaRPr b="1" sz="800"/>
          </a:p>
        </p:txBody>
      </p:sp>
      <p:sp>
        <p:nvSpPr>
          <p:cNvPr id="898" name="Google Shape;898;p66"/>
          <p:cNvSpPr/>
          <p:nvPr/>
        </p:nvSpPr>
        <p:spPr>
          <a:xfrm>
            <a:off x="2145725" y="3048450"/>
            <a:ext cx="6697200" cy="18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66"/>
          <p:cNvSpPr txBox="1"/>
          <p:nvPr/>
        </p:nvSpPr>
        <p:spPr>
          <a:xfrm>
            <a:off x="1490225" y="2771238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ADDR</a:t>
            </a:r>
            <a:endParaRPr b="1" sz="8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3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Google Shape;90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75" y="664750"/>
            <a:ext cx="7322575" cy="4205899"/>
          </a:xfrm>
          <a:prstGeom prst="rect">
            <a:avLst/>
          </a:prstGeom>
          <a:noFill/>
          <a:ln>
            <a:noFill/>
          </a:ln>
        </p:spPr>
      </p:pic>
      <p:sp>
        <p:nvSpPr>
          <p:cNvPr id="905" name="Google Shape;905;p67"/>
          <p:cNvSpPr txBox="1"/>
          <p:nvPr>
            <p:ph idx="1" type="subTitle"/>
          </p:nvPr>
        </p:nvSpPr>
        <p:spPr>
          <a:xfrm>
            <a:off x="47925" y="49325"/>
            <a:ext cx="55386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(LW, APB-Master)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06" name="Google Shape;906;p67"/>
          <p:cNvSpPr txBox="1"/>
          <p:nvPr/>
        </p:nvSpPr>
        <p:spPr>
          <a:xfrm>
            <a:off x="3962535" y="1270113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907" name="Google Shape;907;p67"/>
          <p:cNvSpPr txBox="1"/>
          <p:nvPr/>
        </p:nvSpPr>
        <p:spPr>
          <a:xfrm>
            <a:off x="3566635" y="1121508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WREQ</a:t>
            </a:r>
            <a:endParaRPr b="1" sz="800"/>
          </a:p>
        </p:txBody>
      </p:sp>
      <p:sp>
        <p:nvSpPr>
          <p:cNvPr id="908" name="Google Shape;908;p67"/>
          <p:cNvSpPr txBox="1"/>
          <p:nvPr/>
        </p:nvSpPr>
        <p:spPr>
          <a:xfrm>
            <a:off x="3566635" y="1270132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RREQ</a:t>
            </a:r>
            <a:endParaRPr b="1" sz="800"/>
          </a:p>
        </p:txBody>
      </p:sp>
      <p:sp>
        <p:nvSpPr>
          <p:cNvPr id="909" name="Google Shape;909;p67"/>
          <p:cNvSpPr txBox="1"/>
          <p:nvPr/>
        </p:nvSpPr>
        <p:spPr>
          <a:xfrm>
            <a:off x="3962535" y="112148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0</a:t>
            </a:r>
            <a:endParaRPr b="1" sz="800"/>
          </a:p>
        </p:txBody>
      </p:sp>
      <p:sp>
        <p:nvSpPr>
          <p:cNvPr id="910" name="Google Shape;910;p67"/>
          <p:cNvSpPr txBox="1"/>
          <p:nvPr/>
        </p:nvSpPr>
        <p:spPr>
          <a:xfrm>
            <a:off x="3566622" y="2215957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ADDR</a:t>
            </a:r>
            <a:endParaRPr b="1" sz="800"/>
          </a:p>
        </p:txBody>
      </p:sp>
      <p:cxnSp>
        <p:nvCxnSpPr>
          <p:cNvPr id="911" name="Google Shape;911;p67"/>
          <p:cNvCxnSpPr/>
          <p:nvPr/>
        </p:nvCxnSpPr>
        <p:spPr>
          <a:xfrm>
            <a:off x="4721100" y="675550"/>
            <a:ext cx="11400" cy="4194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2" name="Google Shape;912;p67"/>
          <p:cNvSpPr txBox="1"/>
          <p:nvPr/>
        </p:nvSpPr>
        <p:spPr>
          <a:xfrm>
            <a:off x="4326390" y="185111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0</a:t>
            </a:r>
            <a:endParaRPr b="1" sz="800"/>
          </a:p>
        </p:txBody>
      </p:sp>
      <p:sp>
        <p:nvSpPr>
          <p:cNvPr id="913" name="Google Shape;913;p67"/>
          <p:cNvSpPr txBox="1"/>
          <p:nvPr/>
        </p:nvSpPr>
        <p:spPr>
          <a:xfrm>
            <a:off x="4681635" y="183968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  <p:sp>
        <p:nvSpPr>
          <p:cNvPr id="914" name="Google Shape;914;p67"/>
          <p:cNvSpPr txBox="1"/>
          <p:nvPr/>
        </p:nvSpPr>
        <p:spPr>
          <a:xfrm>
            <a:off x="3383951" y="1837850"/>
            <a:ext cx="8058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915" name="Google Shape;915;p67"/>
          <p:cNvSpPr txBox="1"/>
          <p:nvPr/>
        </p:nvSpPr>
        <p:spPr>
          <a:xfrm>
            <a:off x="3455314" y="3390450"/>
            <a:ext cx="8058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PSEL0</a:t>
            </a:r>
            <a:endParaRPr b="1" sz="800"/>
          </a:p>
        </p:txBody>
      </p:sp>
      <p:cxnSp>
        <p:nvCxnSpPr>
          <p:cNvPr id="916" name="Google Shape;916;p67"/>
          <p:cNvCxnSpPr/>
          <p:nvPr/>
        </p:nvCxnSpPr>
        <p:spPr>
          <a:xfrm>
            <a:off x="4392880" y="664535"/>
            <a:ext cx="11400" cy="4194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67"/>
          <p:cNvSpPr txBox="1"/>
          <p:nvPr/>
        </p:nvSpPr>
        <p:spPr>
          <a:xfrm>
            <a:off x="4345810" y="3390438"/>
            <a:ext cx="452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</a:t>
            </a:r>
            <a:endParaRPr b="1" sz="8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" name="Google Shape;922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15025"/>
            <a:ext cx="8839201" cy="4050731"/>
          </a:xfrm>
          <a:prstGeom prst="rect">
            <a:avLst/>
          </a:prstGeom>
          <a:noFill/>
          <a:ln>
            <a:noFill/>
          </a:ln>
        </p:spPr>
      </p:pic>
      <p:sp>
        <p:nvSpPr>
          <p:cNvPr id="923" name="Google Shape;923;p68"/>
          <p:cNvSpPr txBox="1"/>
          <p:nvPr>
            <p:ph idx="1" type="subTitle"/>
          </p:nvPr>
        </p:nvSpPr>
        <p:spPr>
          <a:xfrm>
            <a:off x="47925" y="49325"/>
            <a:ext cx="55386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(LW, MASTER - RAM)</a:t>
            </a:r>
            <a:endParaRPr sz="2500">
              <a:solidFill>
                <a:schemeClr val="dk1"/>
              </a:solidFill>
            </a:endParaRPr>
          </a:p>
        </p:txBody>
      </p:sp>
      <p:sp>
        <p:nvSpPr>
          <p:cNvPr id="924" name="Google Shape;924;p68"/>
          <p:cNvSpPr txBox="1"/>
          <p:nvPr/>
        </p:nvSpPr>
        <p:spPr>
          <a:xfrm>
            <a:off x="5932625" y="1838775"/>
            <a:ext cx="8688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= mem[2]</a:t>
            </a:r>
            <a:endParaRPr b="1" sz="800"/>
          </a:p>
        </p:txBody>
      </p:sp>
      <p:sp>
        <p:nvSpPr>
          <p:cNvPr id="925" name="Google Shape;925;p68"/>
          <p:cNvSpPr/>
          <p:nvPr/>
        </p:nvSpPr>
        <p:spPr>
          <a:xfrm>
            <a:off x="486300" y="3039525"/>
            <a:ext cx="6080400" cy="1221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9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(SH)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31" name="Google Shape;931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14475"/>
            <a:ext cx="8839200" cy="461319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6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261944"/>
            <a:ext cx="8839200" cy="3631072"/>
          </a:xfrm>
          <a:prstGeom prst="rect">
            <a:avLst/>
          </a:prstGeom>
          <a:noFill/>
          <a:ln>
            <a:noFill/>
          </a:ln>
        </p:spPr>
      </p:pic>
      <p:sp>
        <p:nvSpPr>
          <p:cNvPr id="933" name="Google Shape;933;p69"/>
          <p:cNvSpPr txBox="1"/>
          <p:nvPr/>
        </p:nvSpPr>
        <p:spPr>
          <a:xfrm>
            <a:off x="5679250" y="714425"/>
            <a:ext cx="2019300" cy="46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000">
                <a:solidFill>
                  <a:srgbClr val="FF0000"/>
                </a:solidFill>
              </a:rPr>
              <a:t>reg file[21] = 0000abcd</a:t>
            </a:r>
            <a:endParaRPr b="1" sz="1000"/>
          </a:p>
        </p:txBody>
      </p:sp>
      <p:sp>
        <p:nvSpPr>
          <p:cNvPr id="934" name="Google Shape;934;p69"/>
          <p:cNvSpPr/>
          <p:nvPr/>
        </p:nvSpPr>
        <p:spPr>
          <a:xfrm>
            <a:off x="6433705" y="4135235"/>
            <a:ext cx="459000" cy="1923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69"/>
          <p:cNvSpPr txBox="1"/>
          <p:nvPr/>
        </p:nvSpPr>
        <p:spPr>
          <a:xfrm>
            <a:off x="4797795" y="3610245"/>
            <a:ext cx="5226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WREQ</a:t>
            </a:r>
            <a:endParaRPr b="1" sz="800"/>
          </a:p>
        </p:txBody>
      </p:sp>
      <p:sp>
        <p:nvSpPr>
          <p:cNvPr id="936" name="Google Shape;936;p69"/>
          <p:cNvSpPr txBox="1"/>
          <p:nvPr/>
        </p:nvSpPr>
        <p:spPr>
          <a:xfrm>
            <a:off x="4804674" y="3785201"/>
            <a:ext cx="514500" cy="1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RREQ</a:t>
            </a:r>
            <a:endParaRPr b="1" sz="800"/>
          </a:p>
        </p:txBody>
      </p:sp>
      <p:sp>
        <p:nvSpPr>
          <p:cNvPr id="937" name="Google Shape;937;p69"/>
          <p:cNvSpPr txBox="1"/>
          <p:nvPr/>
        </p:nvSpPr>
        <p:spPr>
          <a:xfrm>
            <a:off x="4802769" y="3997736"/>
            <a:ext cx="514500" cy="103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ADDR</a:t>
            </a:r>
            <a:endParaRPr b="1" sz="800"/>
          </a:p>
        </p:txBody>
      </p:sp>
      <p:sp>
        <p:nvSpPr>
          <p:cNvPr id="938" name="Google Shape;938;p69"/>
          <p:cNvSpPr/>
          <p:nvPr/>
        </p:nvSpPr>
        <p:spPr>
          <a:xfrm>
            <a:off x="5574550" y="3953175"/>
            <a:ext cx="459000" cy="1923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39" name="Google Shape;939;p69"/>
          <p:cNvCxnSpPr>
            <a:stCxn id="938" idx="3"/>
          </p:cNvCxnSpPr>
          <p:nvPr/>
        </p:nvCxnSpPr>
        <p:spPr>
          <a:xfrm rot="10800000">
            <a:off x="6029950" y="3367425"/>
            <a:ext cx="3600" cy="68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0" name="Google Shape;940;p69"/>
          <p:cNvSpPr txBox="1"/>
          <p:nvPr/>
        </p:nvSpPr>
        <p:spPr>
          <a:xfrm>
            <a:off x="5690723" y="3209136"/>
            <a:ext cx="731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MEM[11]</a:t>
            </a:r>
            <a:endParaRPr b="1" sz="800"/>
          </a:p>
        </p:txBody>
      </p:sp>
      <p:sp>
        <p:nvSpPr>
          <p:cNvPr id="941" name="Google Shape;941;p69"/>
          <p:cNvSpPr/>
          <p:nvPr/>
        </p:nvSpPr>
        <p:spPr>
          <a:xfrm>
            <a:off x="6867654" y="3945892"/>
            <a:ext cx="459000" cy="1923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2" name="Google Shape;942;p69"/>
          <p:cNvCxnSpPr>
            <a:stCxn id="941" idx="3"/>
          </p:cNvCxnSpPr>
          <p:nvPr/>
        </p:nvCxnSpPr>
        <p:spPr>
          <a:xfrm rot="10800000">
            <a:off x="7323054" y="3360142"/>
            <a:ext cx="3600" cy="6819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3" name="Google Shape;943;p69"/>
          <p:cNvSpPr txBox="1"/>
          <p:nvPr/>
        </p:nvSpPr>
        <p:spPr>
          <a:xfrm>
            <a:off x="6892699" y="3209125"/>
            <a:ext cx="8820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1000002C+3</a:t>
            </a:r>
            <a:endParaRPr b="1" sz="8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8" name="Google Shape;948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00" y="366812"/>
            <a:ext cx="7284201" cy="2501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49" name="Google Shape;949;p70"/>
          <p:cNvGrpSpPr/>
          <p:nvPr/>
        </p:nvGrpSpPr>
        <p:grpSpPr>
          <a:xfrm>
            <a:off x="62611" y="2852483"/>
            <a:ext cx="8839200" cy="1903479"/>
            <a:chOff x="85425" y="2601525"/>
            <a:chExt cx="8839200" cy="1903479"/>
          </a:xfrm>
        </p:grpSpPr>
        <p:pic>
          <p:nvPicPr>
            <p:cNvPr id="950" name="Google Shape;950;p70"/>
            <p:cNvPicPr preferRelativeResize="0"/>
            <p:nvPr/>
          </p:nvPicPr>
          <p:blipFill rotWithShape="1">
            <a:blip r:embed="rId4">
              <a:alphaModFix/>
            </a:blip>
            <a:srcRect b="54126" l="0" r="0" t="0"/>
            <a:stretch/>
          </p:blipFill>
          <p:spPr>
            <a:xfrm>
              <a:off x="85425" y="2601525"/>
              <a:ext cx="8839200" cy="1541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1" name="Google Shape;951;p70"/>
            <p:cNvPicPr preferRelativeResize="0"/>
            <p:nvPr/>
          </p:nvPicPr>
          <p:blipFill rotWithShape="1">
            <a:blip r:embed="rId4">
              <a:alphaModFix/>
            </a:blip>
            <a:srcRect b="0" l="0" r="0" t="90179"/>
            <a:stretch/>
          </p:blipFill>
          <p:spPr>
            <a:xfrm>
              <a:off x="85425" y="4107254"/>
              <a:ext cx="8839200" cy="397750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52" name="Google Shape;952;p70"/>
          <p:cNvCxnSpPr/>
          <p:nvPr/>
        </p:nvCxnSpPr>
        <p:spPr>
          <a:xfrm>
            <a:off x="5215718" y="371550"/>
            <a:ext cx="2100" cy="4400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3" name="Google Shape;953;p70"/>
          <p:cNvCxnSpPr/>
          <p:nvPr/>
        </p:nvCxnSpPr>
        <p:spPr>
          <a:xfrm>
            <a:off x="6381743" y="361096"/>
            <a:ext cx="2100" cy="4400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70"/>
          <p:cNvSpPr txBox="1"/>
          <p:nvPr/>
        </p:nvSpPr>
        <p:spPr>
          <a:xfrm>
            <a:off x="4148410" y="3277782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</a:t>
            </a:r>
            <a:r>
              <a:rPr b="1" lang="ko" sz="800">
                <a:solidFill>
                  <a:srgbClr val="FF0000"/>
                </a:solidFill>
              </a:rPr>
              <a:t>WRITE</a:t>
            </a:r>
            <a:endParaRPr b="1" sz="800"/>
          </a:p>
        </p:txBody>
      </p:sp>
      <p:sp>
        <p:nvSpPr>
          <p:cNvPr id="955" name="Google Shape;955;p70"/>
          <p:cNvSpPr txBox="1"/>
          <p:nvPr/>
        </p:nvSpPr>
        <p:spPr>
          <a:xfrm>
            <a:off x="4148410" y="3430182"/>
            <a:ext cx="5832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</a:t>
            </a:r>
            <a:endParaRPr b="1" sz="800"/>
          </a:p>
        </p:txBody>
      </p:sp>
      <p:sp>
        <p:nvSpPr>
          <p:cNvPr id="956" name="Google Shape;956;p70"/>
          <p:cNvSpPr txBox="1"/>
          <p:nvPr/>
        </p:nvSpPr>
        <p:spPr>
          <a:xfrm>
            <a:off x="4074251" y="3552275"/>
            <a:ext cx="734400" cy="1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957" name="Google Shape;957;p70"/>
          <p:cNvSpPr/>
          <p:nvPr/>
        </p:nvSpPr>
        <p:spPr>
          <a:xfrm>
            <a:off x="435625" y="4335325"/>
            <a:ext cx="8297100" cy="1923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1" name="Shape 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Google Shape;962;p71"/>
          <p:cNvSpPr txBox="1"/>
          <p:nvPr>
            <p:ph idx="1" type="subTitle"/>
          </p:nvPr>
        </p:nvSpPr>
        <p:spPr>
          <a:xfrm>
            <a:off x="47925" y="24477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(SB)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63" name="Google Shape;96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573650"/>
            <a:ext cx="5724100" cy="2198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090" y="2763607"/>
            <a:ext cx="5724101" cy="21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5" name="Google Shape;965;p71"/>
          <p:cNvSpPr txBox="1"/>
          <p:nvPr/>
        </p:nvSpPr>
        <p:spPr>
          <a:xfrm>
            <a:off x="3138863" y="3513410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PWRITE</a:t>
            </a:r>
            <a:endParaRPr b="1" sz="800"/>
          </a:p>
        </p:txBody>
      </p:sp>
      <p:sp>
        <p:nvSpPr>
          <p:cNvPr id="966" name="Google Shape;966;p71"/>
          <p:cNvSpPr txBox="1"/>
          <p:nvPr/>
        </p:nvSpPr>
        <p:spPr>
          <a:xfrm>
            <a:off x="3110385" y="4274307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</a:t>
            </a:r>
            <a:endParaRPr b="1" sz="800"/>
          </a:p>
        </p:txBody>
      </p:sp>
      <p:sp>
        <p:nvSpPr>
          <p:cNvPr id="967" name="Google Shape;967;p71"/>
          <p:cNvSpPr txBox="1"/>
          <p:nvPr/>
        </p:nvSpPr>
        <p:spPr>
          <a:xfrm>
            <a:off x="3063254" y="3385600"/>
            <a:ext cx="734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968" name="Google Shape;968;p71"/>
          <p:cNvSpPr txBox="1"/>
          <p:nvPr/>
        </p:nvSpPr>
        <p:spPr>
          <a:xfrm>
            <a:off x="3578379" y="3723275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  <p:sp>
        <p:nvSpPr>
          <p:cNvPr id="969" name="Google Shape;969;p71"/>
          <p:cNvSpPr txBox="1"/>
          <p:nvPr/>
        </p:nvSpPr>
        <p:spPr>
          <a:xfrm>
            <a:off x="4143604" y="3723275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  <p:sp>
        <p:nvSpPr>
          <p:cNvPr id="970" name="Google Shape;970;p71"/>
          <p:cNvSpPr txBox="1"/>
          <p:nvPr/>
        </p:nvSpPr>
        <p:spPr>
          <a:xfrm>
            <a:off x="4681354" y="3723275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72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(SB)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76" name="Google Shape;976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71225"/>
            <a:ext cx="8839201" cy="4030574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72"/>
          <p:cNvSpPr/>
          <p:nvPr/>
        </p:nvSpPr>
        <p:spPr>
          <a:xfrm>
            <a:off x="405525" y="4609075"/>
            <a:ext cx="8526900" cy="192300"/>
          </a:xfrm>
          <a:prstGeom prst="rect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73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(LH)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83" name="Google Shape;983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650" y="628325"/>
            <a:ext cx="8278075" cy="38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4" name="Google Shape;984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650" y="4563000"/>
            <a:ext cx="8768598" cy="378025"/>
          </a:xfrm>
          <a:prstGeom prst="rect">
            <a:avLst/>
          </a:prstGeom>
          <a:noFill/>
          <a:ln>
            <a:noFill/>
          </a:ln>
        </p:spPr>
      </p:pic>
      <p:sp>
        <p:nvSpPr>
          <p:cNvPr id="985" name="Google Shape;985;p73"/>
          <p:cNvSpPr txBox="1"/>
          <p:nvPr/>
        </p:nvSpPr>
        <p:spPr>
          <a:xfrm>
            <a:off x="3986025" y="3713050"/>
            <a:ext cx="2829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0</a:t>
            </a:r>
            <a:endParaRPr b="1" sz="800"/>
          </a:p>
        </p:txBody>
      </p:sp>
      <p:sp>
        <p:nvSpPr>
          <p:cNvPr id="986" name="Google Shape;986;p73"/>
          <p:cNvSpPr txBox="1"/>
          <p:nvPr/>
        </p:nvSpPr>
        <p:spPr>
          <a:xfrm>
            <a:off x="3322813" y="3713060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PWRITE</a:t>
            </a:r>
            <a:endParaRPr b="1" sz="800"/>
          </a:p>
        </p:txBody>
      </p:sp>
      <p:sp>
        <p:nvSpPr>
          <p:cNvPr id="987" name="Google Shape;987;p73"/>
          <p:cNvSpPr txBox="1"/>
          <p:nvPr/>
        </p:nvSpPr>
        <p:spPr>
          <a:xfrm>
            <a:off x="3171629" y="3954925"/>
            <a:ext cx="734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988" name="Google Shape;988;p73"/>
          <p:cNvSpPr/>
          <p:nvPr/>
        </p:nvSpPr>
        <p:spPr>
          <a:xfrm>
            <a:off x="2379575" y="4669813"/>
            <a:ext cx="6697200" cy="16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9" name="Google Shape;989;p73"/>
          <p:cNvSpPr/>
          <p:nvPr/>
        </p:nvSpPr>
        <p:spPr>
          <a:xfrm>
            <a:off x="4978825" y="4297525"/>
            <a:ext cx="734400" cy="16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73"/>
          <p:cNvSpPr/>
          <p:nvPr/>
        </p:nvSpPr>
        <p:spPr>
          <a:xfrm>
            <a:off x="6922161" y="4297525"/>
            <a:ext cx="734400" cy="16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91" name="Google Shape;991;p73"/>
          <p:cNvCxnSpPr>
            <a:stCxn id="989" idx="3"/>
          </p:cNvCxnSpPr>
          <p:nvPr/>
        </p:nvCxnSpPr>
        <p:spPr>
          <a:xfrm>
            <a:off x="5713225" y="4379725"/>
            <a:ext cx="806700" cy="2817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74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(LB)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997" name="Google Shape;997;p74"/>
          <p:cNvPicPr preferRelativeResize="0"/>
          <p:nvPr/>
        </p:nvPicPr>
        <p:blipFill rotWithShape="1">
          <a:blip r:embed="rId3">
            <a:alphaModFix/>
          </a:blip>
          <a:srcRect b="9999" l="0" r="0" t="0"/>
          <a:stretch/>
        </p:blipFill>
        <p:spPr>
          <a:xfrm>
            <a:off x="152400" y="541200"/>
            <a:ext cx="8839202" cy="241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2888725"/>
            <a:ext cx="8894076" cy="2003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74"/>
          <p:cNvSpPr txBox="1"/>
          <p:nvPr/>
        </p:nvSpPr>
        <p:spPr>
          <a:xfrm>
            <a:off x="2876463" y="3804310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PWRITE</a:t>
            </a:r>
            <a:endParaRPr b="1" sz="800"/>
          </a:p>
        </p:txBody>
      </p:sp>
      <p:sp>
        <p:nvSpPr>
          <p:cNvPr id="1000" name="Google Shape;1000;p74"/>
          <p:cNvSpPr txBox="1"/>
          <p:nvPr/>
        </p:nvSpPr>
        <p:spPr>
          <a:xfrm>
            <a:off x="2876485" y="4496757"/>
            <a:ext cx="5832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PSEL0</a:t>
            </a:r>
            <a:endParaRPr b="1" sz="800"/>
          </a:p>
        </p:txBody>
      </p:sp>
      <p:sp>
        <p:nvSpPr>
          <p:cNvPr id="1001" name="Google Shape;1001;p74"/>
          <p:cNvSpPr txBox="1"/>
          <p:nvPr/>
        </p:nvSpPr>
        <p:spPr>
          <a:xfrm>
            <a:off x="2800879" y="3682200"/>
            <a:ext cx="734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PENABLE</a:t>
            </a:r>
            <a:endParaRPr b="1" sz="800"/>
          </a:p>
        </p:txBody>
      </p:sp>
      <p:sp>
        <p:nvSpPr>
          <p:cNvPr id="1002" name="Google Shape;1002;p74"/>
          <p:cNvSpPr txBox="1"/>
          <p:nvPr/>
        </p:nvSpPr>
        <p:spPr>
          <a:xfrm>
            <a:off x="3584225" y="3682200"/>
            <a:ext cx="2829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1</a:t>
            </a:r>
            <a:endParaRPr b="1" sz="800"/>
          </a:p>
        </p:txBody>
      </p:sp>
      <p:sp>
        <p:nvSpPr>
          <p:cNvPr id="1003" name="Google Shape;1003;p74"/>
          <p:cNvSpPr txBox="1"/>
          <p:nvPr/>
        </p:nvSpPr>
        <p:spPr>
          <a:xfrm>
            <a:off x="3584225" y="3804300"/>
            <a:ext cx="2829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0</a:t>
            </a:r>
            <a:endParaRPr b="1" sz="800"/>
          </a:p>
        </p:txBody>
      </p:sp>
      <p:sp>
        <p:nvSpPr>
          <p:cNvPr id="1004" name="Google Shape;1004;p74"/>
          <p:cNvSpPr txBox="1"/>
          <p:nvPr/>
        </p:nvSpPr>
        <p:spPr>
          <a:xfrm>
            <a:off x="3584225" y="4496750"/>
            <a:ext cx="2829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1</a:t>
            </a:r>
            <a:endParaRPr b="1" sz="800"/>
          </a:p>
        </p:txBody>
      </p:sp>
      <p:sp>
        <p:nvSpPr>
          <p:cNvPr id="1005" name="Google Shape;1005;p74"/>
          <p:cNvSpPr txBox="1"/>
          <p:nvPr/>
        </p:nvSpPr>
        <p:spPr>
          <a:xfrm>
            <a:off x="4731879" y="3926400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  <p:sp>
        <p:nvSpPr>
          <p:cNvPr id="1006" name="Google Shape;1006;p74"/>
          <p:cNvSpPr txBox="1"/>
          <p:nvPr/>
        </p:nvSpPr>
        <p:spPr>
          <a:xfrm>
            <a:off x="6059604" y="3926400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  <p:sp>
        <p:nvSpPr>
          <p:cNvPr id="1007" name="Google Shape;1007;p74"/>
          <p:cNvSpPr txBox="1"/>
          <p:nvPr/>
        </p:nvSpPr>
        <p:spPr>
          <a:xfrm>
            <a:off x="7387329" y="3926400"/>
            <a:ext cx="428400" cy="122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800">
                <a:solidFill>
                  <a:srgbClr val="FF0000"/>
                </a:solidFill>
              </a:rPr>
              <a:t>  +1</a:t>
            </a:r>
            <a:endParaRPr b="1" sz="80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1" name="Shape 1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2" name="Google Shape;1012;p75"/>
          <p:cNvSpPr txBox="1"/>
          <p:nvPr>
            <p:ph idx="1" type="subTitle"/>
          </p:nvPr>
        </p:nvSpPr>
        <p:spPr>
          <a:xfrm>
            <a:off x="47925" y="49325"/>
            <a:ext cx="4221000" cy="57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>
                <a:solidFill>
                  <a:schemeClr val="dk1"/>
                </a:solidFill>
              </a:rPr>
              <a:t>SIMULATION (LB)</a:t>
            </a:r>
            <a:endParaRPr sz="2500">
              <a:solidFill>
                <a:schemeClr val="dk1"/>
              </a:solidFill>
            </a:endParaRPr>
          </a:p>
        </p:txBody>
      </p:sp>
      <p:pic>
        <p:nvPicPr>
          <p:cNvPr id="1013" name="Google Shape;1013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775" y="2305974"/>
            <a:ext cx="8839201" cy="2633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4" name="Google Shape;1014;p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7075" y="560675"/>
            <a:ext cx="8173251" cy="16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5" name="Google Shape;1015;p75"/>
          <p:cNvSpPr/>
          <p:nvPr/>
        </p:nvSpPr>
        <p:spPr>
          <a:xfrm>
            <a:off x="366200" y="1902050"/>
            <a:ext cx="6697200" cy="1644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75"/>
          <p:cNvSpPr/>
          <p:nvPr/>
        </p:nvSpPr>
        <p:spPr>
          <a:xfrm>
            <a:off x="410225" y="4598225"/>
            <a:ext cx="8550600" cy="189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7" name="Google Shape;1017;p75"/>
          <p:cNvCxnSpPr/>
          <p:nvPr/>
        </p:nvCxnSpPr>
        <p:spPr>
          <a:xfrm flipH="1">
            <a:off x="2880775" y="2064525"/>
            <a:ext cx="18000" cy="24945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76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ko" sz="3500"/>
              <a:t>FND,UART</a:t>
            </a:r>
            <a:endParaRPr b="1" sz="3500"/>
          </a:p>
        </p:txBody>
      </p:sp>
      <p:sp>
        <p:nvSpPr>
          <p:cNvPr id="1023" name="Google Shape;1023;p76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76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4</a:t>
            </a:r>
            <a:endParaRPr b="1" sz="4000">
              <a:solidFill>
                <a:schemeClr val="dk1"/>
              </a:solidFill>
            </a:endParaRPr>
          </a:p>
        </p:txBody>
      </p:sp>
      <p:sp>
        <p:nvSpPr>
          <p:cNvPr id="1025" name="Google Shape;1025;p76"/>
          <p:cNvSpPr txBox="1"/>
          <p:nvPr/>
        </p:nvSpPr>
        <p:spPr>
          <a:xfrm>
            <a:off x="4572000" y="2976750"/>
            <a:ext cx="1656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1) Concept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2) Memory Map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3) Simulation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77"/>
          <p:cNvSpPr txBox="1"/>
          <p:nvPr>
            <p:ph type="title"/>
          </p:nvPr>
        </p:nvSpPr>
        <p:spPr>
          <a:xfrm>
            <a:off x="246475" y="47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FND,UART</a:t>
            </a:r>
            <a:endParaRPr/>
          </a:p>
        </p:txBody>
      </p:sp>
      <p:pic>
        <p:nvPicPr>
          <p:cNvPr id="1031" name="Google Shape;1031;p77" title="APB_BUS-페이지-23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625"/>
            <a:ext cx="5350150" cy="427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2" name="Google Shape;1032;p77" title="memory_map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69824" y="565725"/>
            <a:ext cx="3143900" cy="4577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3" name="Google Shape;1033;p77"/>
          <p:cNvSpPr/>
          <p:nvPr/>
        </p:nvSpPr>
        <p:spPr>
          <a:xfrm>
            <a:off x="6194775" y="1996900"/>
            <a:ext cx="2819100" cy="572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Google Shape;1034;p77"/>
          <p:cNvSpPr/>
          <p:nvPr/>
        </p:nvSpPr>
        <p:spPr>
          <a:xfrm>
            <a:off x="2820100" y="3544150"/>
            <a:ext cx="2731500" cy="14967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8"/>
          <p:cNvSpPr txBox="1"/>
          <p:nvPr>
            <p:ph type="title"/>
          </p:nvPr>
        </p:nvSpPr>
        <p:spPr>
          <a:xfrm>
            <a:off x="152400" y="129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APB FND</a:t>
            </a:r>
            <a:endParaRPr/>
          </a:p>
        </p:txBody>
      </p:sp>
      <p:pic>
        <p:nvPicPr>
          <p:cNvPr id="1040" name="Google Shape;1040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54825"/>
            <a:ext cx="8871399" cy="413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79"/>
          <p:cNvSpPr txBox="1"/>
          <p:nvPr>
            <p:ph type="title"/>
          </p:nvPr>
        </p:nvSpPr>
        <p:spPr>
          <a:xfrm>
            <a:off x="262425" y="1986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APB UART</a:t>
            </a:r>
            <a:endParaRPr/>
          </a:p>
        </p:txBody>
      </p:sp>
      <p:pic>
        <p:nvPicPr>
          <p:cNvPr id="1046" name="Google Shape;1046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0" y="740575"/>
            <a:ext cx="9052426" cy="44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80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UART RX ASM</a:t>
            </a:r>
            <a:endParaRPr/>
          </a:p>
        </p:txBody>
      </p:sp>
      <p:pic>
        <p:nvPicPr>
          <p:cNvPr id="1052" name="Google Shape;1052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50" y="747975"/>
            <a:ext cx="3669800" cy="4223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3" name="Google Shape;1053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7450" y="864650"/>
            <a:ext cx="5064150" cy="364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81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UART TX ASM</a:t>
            </a:r>
            <a:endParaRPr/>
          </a:p>
        </p:txBody>
      </p:sp>
      <p:pic>
        <p:nvPicPr>
          <p:cNvPr id="1059" name="Google Shape;1059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875" y="751725"/>
            <a:ext cx="3637300" cy="421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0" name="Google Shape;1060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4175" y="817825"/>
            <a:ext cx="5389824" cy="384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82"/>
          <p:cNvSpPr txBox="1"/>
          <p:nvPr/>
        </p:nvSpPr>
        <p:spPr>
          <a:xfrm>
            <a:off x="6996150" y="2632050"/>
            <a:ext cx="22065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3</a:t>
            </a:r>
            <a:r>
              <a:rPr lang="ko" sz="1300">
                <a:solidFill>
                  <a:schemeClr val="dk1"/>
                </a:solidFill>
              </a:rPr>
              <a:t>.fnd value 0</a:t>
            </a:r>
            <a:r>
              <a:rPr lang="ko" sz="1300">
                <a:solidFill>
                  <a:schemeClr val="dk1"/>
                </a:solidFill>
              </a:rPr>
              <a:t>초기화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0~15까지 확인해서 켜진 비트 +1 결과 FND에 출력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66" name="Google Shape;1066;p82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 code</a:t>
            </a:r>
            <a:endParaRPr/>
          </a:p>
        </p:txBody>
      </p:sp>
      <p:pic>
        <p:nvPicPr>
          <p:cNvPr id="1067" name="Google Shape;1067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1325" y="768275"/>
            <a:ext cx="3696225" cy="42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82"/>
          <p:cNvSpPr/>
          <p:nvPr/>
        </p:nvSpPr>
        <p:spPr>
          <a:xfrm>
            <a:off x="3643875" y="1010650"/>
            <a:ext cx="3293700" cy="387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82"/>
          <p:cNvSpPr txBox="1"/>
          <p:nvPr/>
        </p:nvSpPr>
        <p:spPr>
          <a:xfrm>
            <a:off x="6962925" y="863900"/>
            <a:ext cx="2038200" cy="6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70" name="Google Shape;1070;p82"/>
          <p:cNvSpPr txBox="1"/>
          <p:nvPr/>
        </p:nvSpPr>
        <p:spPr>
          <a:xfrm>
            <a:off x="6937548" y="923050"/>
            <a:ext cx="2206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1. STATUS_REG에서 rx_done 확인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71" name="Google Shape;1071;p82"/>
          <p:cNvSpPr/>
          <p:nvPr/>
        </p:nvSpPr>
        <p:spPr>
          <a:xfrm>
            <a:off x="3821075" y="1495200"/>
            <a:ext cx="2934900" cy="1266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82"/>
          <p:cNvSpPr txBox="1"/>
          <p:nvPr/>
        </p:nvSpPr>
        <p:spPr>
          <a:xfrm>
            <a:off x="6937550" y="1532000"/>
            <a:ext cx="2206500" cy="13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2. 수신문자를 0~15로 변환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(범위 밖이면 무시)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1"/>
                </a:solidFill>
              </a:rPr>
              <a:t>하위 8비트 GPIO LED 출력 상위 8비트  GPO LED 출력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073" name="Google Shape;107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25" y="768275"/>
            <a:ext cx="3141825" cy="4320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82"/>
          <p:cNvSpPr/>
          <p:nvPr/>
        </p:nvSpPr>
        <p:spPr>
          <a:xfrm>
            <a:off x="3821075" y="2791050"/>
            <a:ext cx="2934900" cy="12183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83"/>
          <p:cNvSpPr txBox="1"/>
          <p:nvPr/>
        </p:nvSpPr>
        <p:spPr>
          <a:xfrm>
            <a:off x="11714875" y="-815800"/>
            <a:ext cx="3163500" cy="41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1080" name="Google Shape;1080;p83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 code</a:t>
            </a:r>
            <a:endParaRPr/>
          </a:p>
        </p:txBody>
      </p:sp>
      <p:pic>
        <p:nvPicPr>
          <p:cNvPr id="1081" name="Google Shape;108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75" y="712250"/>
            <a:ext cx="3430150" cy="443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2" name="Google Shape;1082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28325" y="666250"/>
            <a:ext cx="5569674" cy="443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7" name="Google Shape;1087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6025"/>
            <a:ext cx="477827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4"/>
          <p:cNvSpPr txBox="1"/>
          <p:nvPr/>
        </p:nvSpPr>
        <p:spPr>
          <a:xfrm>
            <a:off x="1897148" y="1364425"/>
            <a:ext cx="22065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1.</a:t>
            </a:r>
            <a:r>
              <a:rPr lang="ko" sz="1300">
                <a:solidFill>
                  <a:srgbClr val="FF0000"/>
                </a:solidFill>
              </a:rPr>
              <a:t>수신문자 숫자로 변환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1089" name="Google Shape;1089;p84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 code</a:t>
            </a:r>
            <a:endParaRPr/>
          </a:p>
        </p:txBody>
      </p:sp>
      <p:pic>
        <p:nvPicPr>
          <p:cNvPr id="1090" name="Google Shape;1090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00238"/>
            <a:ext cx="4800600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1" name="Google Shape;1091;p8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" y="3304510"/>
            <a:ext cx="4800600" cy="1829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8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872588" y="570600"/>
            <a:ext cx="4193713" cy="45629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84"/>
          <p:cNvSpPr txBox="1"/>
          <p:nvPr/>
        </p:nvSpPr>
        <p:spPr>
          <a:xfrm>
            <a:off x="1897151" y="2670575"/>
            <a:ext cx="30612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2.TX 완료 확인 후 데이터 저장하고 CTL 펄스로 전송 시작</a:t>
            </a:r>
            <a:endParaRPr sz="1300">
              <a:solidFill>
                <a:srgbClr val="FF0000"/>
              </a:solidFill>
            </a:endParaRPr>
          </a:p>
        </p:txBody>
      </p:sp>
      <p:sp>
        <p:nvSpPr>
          <p:cNvPr id="1094" name="Google Shape;1094;p84"/>
          <p:cNvSpPr txBox="1"/>
          <p:nvPr/>
        </p:nvSpPr>
        <p:spPr>
          <a:xfrm>
            <a:off x="1960000" y="4668901"/>
            <a:ext cx="2669700" cy="4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rgbClr val="FF0000"/>
                </a:solidFill>
              </a:rPr>
              <a:t>3.전달받은주소 ODATA 저장</a:t>
            </a:r>
            <a:endParaRPr sz="13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9" name="Google Shape;1099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3" name="Shape 1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4" name="Google Shape;110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02751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p87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10" name="Google Shape;1110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25" y="598600"/>
            <a:ext cx="9143999" cy="454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87"/>
          <p:cNvSpPr txBox="1"/>
          <p:nvPr/>
        </p:nvSpPr>
        <p:spPr>
          <a:xfrm>
            <a:off x="4533600" y="1055900"/>
            <a:ext cx="24480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FF0000"/>
                </a:solidFill>
              </a:rPr>
              <a:t>19200bps: 1060us-532.90us=527.1us</a:t>
            </a:r>
            <a:endParaRPr sz="2100">
              <a:solidFill>
                <a:srgbClr val="FF0000"/>
              </a:solidFill>
            </a:endParaRPr>
          </a:p>
        </p:txBody>
      </p:sp>
      <p:sp>
        <p:nvSpPr>
          <p:cNvPr id="1112" name="Google Shape;1112;p87"/>
          <p:cNvSpPr txBox="1"/>
          <p:nvPr/>
        </p:nvSpPr>
        <p:spPr>
          <a:xfrm>
            <a:off x="4533600" y="3936450"/>
            <a:ext cx="2825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FF0000"/>
                </a:solidFill>
              </a:rPr>
              <a:t>192</a:t>
            </a:r>
            <a:r>
              <a:rPr lang="ko" sz="1700">
                <a:solidFill>
                  <a:srgbClr val="FF0000"/>
                </a:solidFill>
              </a:rPr>
              <a:t>00 bps</a:t>
            </a:r>
            <a:endParaRPr sz="17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>
                <a:solidFill>
                  <a:srgbClr val="FF0000"/>
                </a:solidFill>
              </a:rPr>
              <a:t>1/19200 = 0.000052083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1113" name="Google Shape;1113;p87"/>
          <p:cNvSpPr/>
          <p:nvPr/>
        </p:nvSpPr>
        <p:spPr>
          <a:xfrm>
            <a:off x="3777225" y="3392425"/>
            <a:ext cx="412500" cy="272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88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sp>
        <p:nvSpPr>
          <p:cNvPr id="1119" name="Google Shape;1119;p88"/>
          <p:cNvSpPr txBox="1"/>
          <p:nvPr/>
        </p:nvSpPr>
        <p:spPr>
          <a:xfrm>
            <a:off x="4533600" y="1055900"/>
            <a:ext cx="18903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>
                <a:solidFill>
                  <a:srgbClr val="FF0000"/>
                </a:solidFill>
              </a:rPr>
              <a:t>19200</a:t>
            </a:r>
            <a:r>
              <a:rPr lang="ko" sz="1100">
                <a:solidFill>
                  <a:srgbClr val="FF0000"/>
                </a:solidFill>
              </a:rPr>
              <a:t>bps: 1060us-532.90us=527.1us</a:t>
            </a:r>
            <a:endParaRPr sz="1700">
              <a:solidFill>
                <a:srgbClr val="FF0000"/>
              </a:solidFill>
            </a:endParaRPr>
          </a:p>
        </p:txBody>
      </p:sp>
      <p:sp>
        <p:nvSpPr>
          <p:cNvPr id="1120" name="Google Shape;1120;p88"/>
          <p:cNvSpPr txBox="1"/>
          <p:nvPr/>
        </p:nvSpPr>
        <p:spPr>
          <a:xfrm>
            <a:off x="4572000" y="3789150"/>
            <a:ext cx="2243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F0000"/>
                </a:solidFill>
              </a:rPr>
              <a:t>19200 bps</a:t>
            </a:r>
            <a:endParaRPr sz="12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rgbClr val="FF0000"/>
                </a:solidFill>
              </a:rPr>
              <a:t>1/19200 = 0.000052083</a:t>
            </a:r>
            <a:endParaRPr sz="1200">
              <a:solidFill>
                <a:srgbClr val="FF0000"/>
              </a:solidFill>
            </a:endParaRPr>
          </a:p>
        </p:txBody>
      </p:sp>
      <p:pic>
        <p:nvPicPr>
          <p:cNvPr id="1121" name="Google Shape;1121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00" y="712250"/>
            <a:ext cx="9091800" cy="4431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22" name="Google Shape;1122;p88"/>
          <p:cNvSpPr txBox="1"/>
          <p:nvPr/>
        </p:nvSpPr>
        <p:spPr>
          <a:xfrm>
            <a:off x="4924800" y="1203575"/>
            <a:ext cx="18903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>
                <a:solidFill>
                  <a:srgbClr val="FF0000"/>
                </a:solidFill>
              </a:rPr>
              <a:t>115200</a:t>
            </a:r>
            <a:r>
              <a:rPr lang="ko">
                <a:solidFill>
                  <a:srgbClr val="FF0000"/>
                </a:solidFill>
              </a:rPr>
              <a:t>bps: 204us-119us=85us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23" name="Google Shape;1123;p88"/>
          <p:cNvSpPr txBox="1"/>
          <p:nvPr/>
        </p:nvSpPr>
        <p:spPr>
          <a:xfrm>
            <a:off x="4983050" y="4108250"/>
            <a:ext cx="24423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FF0000"/>
                </a:solidFill>
              </a:rPr>
              <a:t>115200bps</a:t>
            </a:r>
            <a:endParaRPr sz="15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FF0000"/>
                </a:solidFill>
              </a:rPr>
              <a:t>1/115200=0.00000868</a:t>
            </a:r>
            <a:endParaRPr sz="1500">
              <a:solidFill>
                <a:srgbClr val="FF0000"/>
              </a:solidFill>
            </a:endParaRPr>
          </a:p>
        </p:txBody>
      </p:sp>
      <p:sp>
        <p:nvSpPr>
          <p:cNvPr id="1124" name="Google Shape;1124;p88"/>
          <p:cNvSpPr/>
          <p:nvPr/>
        </p:nvSpPr>
        <p:spPr>
          <a:xfrm>
            <a:off x="4198225" y="3517050"/>
            <a:ext cx="412500" cy="2721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89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30" name="Google Shape;1130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50" y="712250"/>
            <a:ext cx="9055326" cy="432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1" name="Google Shape;1131;p89"/>
          <p:cNvSpPr/>
          <p:nvPr/>
        </p:nvSpPr>
        <p:spPr>
          <a:xfrm>
            <a:off x="479300" y="4644825"/>
            <a:ext cx="667800" cy="137400"/>
          </a:xfrm>
          <a:prstGeom prst="rect">
            <a:avLst/>
          </a:prstGeom>
          <a:noFill/>
          <a:ln cap="flat" cmpd="sng" w="2857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89"/>
          <p:cNvSpPr txBox="1"/>
          <p:nvPr/>
        </p:nvSpPr>
        <p:spPr>
          <a:xfrm>
            <a:off x="4507625" y="4135925"/>
            <a:ext cx="2715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0000"/>
                </a:solidFill>
              </a:rPr>
              <a:t>9600 bps</a:t>
            </a:r>
            <a:endParaRPr sz="16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600">
                <a:solidFill>
                  <a:srgbClr val="FF0000"/>
                </a:solidFill>
              </a:rPr>
              <a:t>1/9600 = 0.000104166</a:t>
            </a:r>
            <a:endParaRPr sz="1600">
              <a:solidFill>
                <a:srgbClr val="FF0000"/>
              </a:solidFill>
            </a:endParaRPr>
          </a:p>
        </p:txBody>
      </p:sp>
      <p:sp>
        <p:nvSpPr>
          <p:cNvPr id="1133" name="Google Shape;1133;p89"/>
          <p:cNvSpPr txBox="1"/>
          <p:nvPr/>
        </p:nvSpPr>
        <p:spPr>
          <a:xfrm>
            <a:off x="4457950" y="1351850"/>
            <a:ext cx="2361600" cy="6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500">
                <a:solidFill>
                  <a:srgbClr val="FF0000"/>
                </a:solidFill>
              </a:rPr>
              <a:t>2.07ms-1.03ms = 약 1.04ms</a:t>
            </a:r>
            <a:endParaRPr sz="2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90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39" name="Google Shape;1139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75" y="864650"/>
            <a:ext cx="8984700" cy="200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0" name="Google Shape;1140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413" y="2867475"/>
            <a:ext cx="9055324" cy="2190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41" name="Google Shape;1141;p90"/>
          <p:cNvSpPr/>
          <p:nvPr/>
        </p:nvSpPr>
        <p:spPr>
          <a:xfrm>
            <a:off x="3559387" y="3716245"/>
            <a:ext cx="939600" cy="13419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2" name="Google Shape;1142;p90"/>
          <p:cNvSpPr/>
          <p:nvPr/>
        </p:nvSpPr>
        <p:spPr>
          <a:xfrm>
            <a:off x="2953037" y="3310853"/>
            <a:ext cx="419100" cy="405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90"/>
          <p:cNvSpPr/>
          <p:nvPr/>
        </p:nvSpPr>
        <p:spPr>
          <a:xfrm>
            <a:off x="8756763" y="3310853"/>
            <a:ext cx="419100" cy="4053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91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49" name="Google Shape;114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12250"/>
            <a:ext cx="9143999" cy="2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0" name="Google Shape;1150;p91"/>
          <p:cNvSpPr txBox="1"/>
          <p:nvPr/>
        </p:nvSpPr>
        <p:spPr>
          <a:xfrm>
            <a:off x="5162325" y="1144575"/>
            <a:ext cx="15051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0000"/>
                </a:solidFill>
              </a:rPr>
              <a:t>RX_DATA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51" name="Google Shape;1151;p91"/>
          <p:cNvSpPr txBox="1"/>
          <p:nvPr/>
        </p:nvSpPr>
        <p:spPr>
          <a:xfrm>
            <a:off x="5808625" y="2654050"/>
            <a:ext cx="16233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2000">
                <a:solidFill>
                  <a:srgbClr val="FF0000"/>
                </a:solidFill>
              </a:rPr>
              <a:t>TX_DATA, echo</a:t>
            </a:r>
            <a:endParaRPr sz="2000">
              <a:solidFill>
                <a:srgbClr val="FF0000"/>
              </a:solidFill>
            </a:endParaRPr>
          </a:p>
        </p:txBody>
      </p:sp>
      <p:sp>
        <p:nvSpPr>
          <p:cNvPr id="1152" name="Google Shape;1152;p91"/>
          <p:cNvSpPr/>
          <p:nvPr/>
        </p:nvSpPr>
        <p:spPr>
          <a:xfrm>
            <a:off x="4844825" y="650675"/>
            <a:ext cx="411600" cy="4470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3" name="Google Shape;1153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507700"/>
            <a:ext cx="9144000" cy="163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92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59" name="Google Shape;115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0" y="659400"/>
            <a:ext cx="8964999" cy="24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0" name="Google Shape;1160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0" y="905700"/>
            <a:ext cx="8965000" cy="42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2"/>
          <p:cNvSpPr txBox="1"/>
          <p:nvPr/>
        </p:nvSpPr>
        <p:spPr>
          <a:xfrm>
            <a:off x="161500" y="48286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0번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2" name="Google Shape;1162;p92"/>
          <p:cNvSpPr txBox="1"/>
          <p:nvPr/>
        </p:nvSpPr>
        <p:spPr>
          <a:xfrm>
            <a:off x="395325" y="45823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3" name="Google Shape;1163;p92"/>
          <p:cNvSpPr txBox="1"/>
          <p:nvPr/>
        </p:nvSpPr>
        <p:spPr>
          <a:xfrm>
            <a:off x="683625" y="435857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2번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4" name="Google Shape;1164;p92"/>
          <p:cNvSpPr txBox="1"/>
          <p:nvPr/>
        </p:nvSpPr>
        <p:spPr>
          <a:xfrm>
            <a:off x="940522" y="41327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3번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5" name="Google Shape;1165;p92"/>
          <p:cNvSpPr txBox="1"/>
          <p:nvPr/>
        </p:nvSpPr>
        <p:spPr>
          <a:xfrm>
            <a:off x="1174347" y="38864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4번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6" name="Google Shape;1166;p92"/>
          <p:cNvSpPr txBox="1"/>
          <p:nvPr/>
        </p:nvSpPr>
        <p:spPr>
          <a:xfrm>
            <a:off x="1462647" y="36627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5번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7" name="Google Shape;1167;p92"/>
          <p:cNvSpPr txBox="1"/>
          <p:nvPr/>
        </p:nvSpPr>
        <p:spPr>
          <a:xfrm>
            <a:off x="2162750" y="2743550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8번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8" name="Google Shape;1168;p92"/>
          <p:cNvSpPr txBox="1"/>
          <p:nvPr/>
        </p:nvSpPr>
        <p:spPr>
          <a:xfrm>
            <a:off x="2373575" y="25172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9번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69" name="Google Shape;1169;p92"/>
          <p:cNvSpPr txBox="1"/>
          <p:nvPr/>
        </p:nvSpPr>
        <p:spPr>
          <a:xfrm>
            <a:off x="2604900" y="22739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10번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0" name="Google Shape;1170;p92"/>
          <p:cNvSpPr txBox="1"/>
          <p:nvPr/>
        </p:nvSpPr>
        <p:spPr>
          <a:xfrm>
            <a:off x="2967625" y="20676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11번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1" name="Google Shape;1171;p92"/>
          <p:cNvSpPr txBox="1"/>
          <p:nvPr/>
        </p:nvSpPr>
        <p:spPr>
          <a:xfrm>
            <a:off x="3201450" y="18213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12번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2" name="Google Shape;1172;p92"/>
          <p:cNvSpPr txBox="1"/>
          <p:nvPr/>
        </p:nvSpPr>
        <p:spPr>
          <a:xfrm>
            <a:off x="3489750" y="1597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13번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3" name="Google Shape;1173;p92"/>
          <p:cNvSpPr txBox="1"/>
          <p:nvPr/>
        </p:nvSpPr>
        <p:spPr>
          <a:xfrm>
            <a:off x="1726900" y="34368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6번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4" name="Google Shape;1174;p92"/>
          <p:cNvSpPr txBox="1"/>
          <p:nvPr/>
        </p:nvSpPr>
        <p:spPr>
          <a:xfrm>
            <a:off x="2015200" y="32131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7번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5" name="Google Shape;1175;p92"/>
          <p:cNvSpPr txBox="1"/>
          <p:nvPr/>
        </p:nvSpPr>
        <p:spPr>
          <a:xfrm>
            <a:off x="3728150" y="13522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14번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6" name="Google Shape;1176;p92"/>
          <p:cNvSpPr txBox="1"/>
          <p:nvPr/>
        </p:nvSpPr>
        <p:spPr>
          <a:xfrm>
            <a:off x="4016450" y="11285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15번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7" name="Google Shape;1177;p92"/>
          <p:cNvSpPr txBox="1"/>
          <p:nvPr/>
        </p:nvSpPr>
        <p:spPr>
          <a:xfrm>
            <a:off x="4477100" y="47923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0번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8" name="Google Shape;1178;p92"/>
          <p:cNvSpPr txBox="1"/>
          <p:nvPr/>
        </p:nvSpPr>
        <p:spPr>
          <a:xfrm>
            <a:off x="4710925" y="45460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79" name="Google Shape;1179;p92"/>
          <p:cNvSpPr txBox="1"/>
          <p:nvPr/>
        </p:nvSpPr>
        <p:spPr>
          <a:xfrm>
            <a:off x="4999225" y="432227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2번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0" name="Google Shape;1180;p92"/>
          <p:cNvSpPr txBox="1"/>
          <p:nvPr/>
        </p:nvSpPr>
        <p:spPr>
          <a:xfrm>
            <a:off x="5256122" y="40964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3번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1" name="Google Shape;1181;p92"/>
          <p:cNvSpPr txBox="1"/>
          <p:nvPr/>
        </p:nvSpPr>
        <p:spPr>
          <a:xfrm>
            <a:off x="5489947" y="38501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4번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2" name="Google Shape;1182;p92"/>
          <p:cNvSpPr txBox="1"/>
          <p:nvPr/>
        </p:nvSpPr>
        <p:spPr>
          <a:xfrm>
            <a:off x="5778247" y="36264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5번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3" name="Google Shape;1183;p92"/>
          <p:cNvSpPr txBox="1"/>
          <p:nvPr/>
        </p:nvSpPr>
        <p:spPr>
          <a:xfrm>
            <a:off x="6042500" y="34005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6번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4" name="Google Shape;1184;p92"/>
          <p:cNvSpPr txBox="1"/>
          <p:nvPr/>
        </p:nvSpPr>
        <p:spPr>
          <a:xfrm>
            <a:off x="6330800" y="31768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7번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5" name="Google Shape;1185;p92"/>
          <p:cNvSpPr txBox="1"/>
          <p:nvPr/>
        </p:nvSpPr>
        <p:spPr>
          <a:xfrm>
            <a:off x="5581850" y="27589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8번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6" name="Google Shape;1186;p92"/>
          <p:cNvSpPr txBox="1"/>
          <p:nvPr/>
        </p:nvSpPr>
        <p:spPr>
          <a:xfrm>
            <a:off x="5792675" y="2532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9번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7" name="Google Shape;1187;p92"/>
          <p:cNvSpPr txBox="1"/>
          <p:nvPr/>
        </p:nvSpPr>
        <p:spPr>
          <a:xfrm>
            <a:off x="6024000" y="22893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10번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8" name="Google Shape;1188;p92"/>
          <p:cNvSpPr txBox="1"/>
          <p:nvPr/>
        </p:nvSpPr>
        <p:spPr>
          <a:xfrm>
            <a:off x="6386725" y="20830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11번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89" name="Google Shape;1189;p92"/>
          <p:cNvSpPr txBox="1"/>
          <p:nvPr/>
        </p:nvSpPr>
        <p:spPr>
          <a:xfrm>
            <a:off x="6620550" y="18367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12번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90" name="Google Shape;1190;p92"/>
          <p:cNvSpPr txBox="1"/>
          <p:nvPr/>
        </p:nvSpPr>
        <p:spPr>
          <a:xfrm>
            <a:off x="6908850" y="16130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13번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91" name="Google Shape;1191;p92"/>
          <p:cNvSpPr txBox="1"/>
          <p:nvPr/>
        </p:nvSpPr>
        <p:spPr>
          <a:xfrm>
            <a:off x="7147250" y="1367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14번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192" name="Google Shape;1192;p92"/>
          <p:cNvSpPr txBox="1"/>
          <p:nvPr/>
        </p:nvSpPr>
        <p:spPr>
          <a:xfrm>
            <a:off x="7435550" y="11438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15번 OFF</a:t>
            </a:r>
            <a:endParaRPr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93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Simulation</a:t>
            </a:r>
            <a:endParaRPr/>
          </a:p>
        </p:txBody>
      </p:sp>
      <p:pic>
        <p:nvPicPr>
          <p:cNvPr id="1198" name="Google Shape;1198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00" y="659400"/>
            <a:ext cx="8964999" cy="2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3"/>
          <p:cNvSpPr txBox="1"/>
          <p:nvPr/>
        </p:nvSpPr>
        <p:spPr>
          <a:xfrm>
            <a:off x="161500" y="48286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0번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0" name="Google Shape;1200;p93"/>
          <p:cNvSpPr txBox="1"/>
          <p:nvPr/>
        </p:nvSpPr>
        <p:spPr>
          <a:xfrm>
            <a:off x="395325" y="45823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1" name="Google Shape;1201;p93"/>
          <p:cNvSpPr txBox="1"/>
          <p:nvPr/>
        </p:nvSpPr>
        <p:spPr>
          <a:xfrm>
            <a:off x="683625" y="435857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2번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2" name="Google Shape;1202;p93"/>
          <p:cNvSpPr txBox="1"/>
          <p:nvPr/>
        </p:nvSpPr>
        <p:spPr>
          <a:xfrm>
            <a:off x="940522" y="41327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3번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3" name="Google Shape;1203;p93"/>
          <p:cNvSpPr txBox="1"/>
          <p:nvPr/>
        </p:nvSpPr>
        <p:spPr>
          <a:xfrm>
            <a:off x="1174347" y="38864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4번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4" name="Google Shape;1204;p93"/>
          <p:cNvSpPr txBox="1"/>
          <p:nvPr/>
        </p:nvSpPr>
        <p:spPr>
          <a:xfrm>
            <a:off x="1462647" y="36627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5번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5" name="Google Shape;1205;p93"/>
          <p:cNvSpPr txBox="1"/>
          <p:nvPr/>
        </p:nvSpPr>
        <p:spPr>
          <a:xfrm>
            <a:off x="2162750" y="2743550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8번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6" name="Google Shape;1206;p93"/>
          <p:cNvSpPr txBox="1"/>
          <p:nvPr/>
        </p:nvSpPr>
        <p:spPr>
          <a:xfrm>
            <a:off x="2373575" y="25172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9번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7" name="Google Shape;1207;p93"/>
          <p:cNvSpPr txBox="1"/>
          <p:nvPr/>
        </p:nvSpPr>
        <p:spPr>
          <a:xfrm>
            <a:off x="2604900" y="22739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10번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8" name="Google Shape;1208;p93"/>
          <p:cNvSpPr txBox="1"/>
          <p:nvPr/>
        </p:nvSpPr>
        <p:spPr>
          <a:xfrm>
            <a:off x="2967625" y="20676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11번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09" name="Google Shape;1209;p93"/>
          <p:cNvSpPr txBox="1"/>
          <p:nvPr/>
        </p:nvSpPr>
        <p:spPr>
          <a:xfrm>
            <a:off x="3201450" y="18213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12번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0" name="Google Shape;1210;p93"/>
          <p:cNvSpPr txBox="1"/>
          <p:nvPr/>
        </p:nvSpPr>
        <p:spPr>
          <a:xfrm>
            <a:off x="3489750" y="1597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13번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1" name="Google Shape;1211;p93"/>
          <p:cNvSpPr txBox="1"/>
          <p:nvPr/>
        </p:nvSpPr>
        <p:spPr>
          <a:xfrm>
            <a:off x="1726900" y="34368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6번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2" name="Google Shape;1212;p93"/>
          <p:cNvSpPr txBox="1"/>
          <p:nvPr/>
        </p:nvSpPr>
        <p:spPr>
          <a:xfrm>
            <a:off x="2015200" y="32131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7번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3" name="Google Shape;1213;p93"/>
          <p:cNvSpPr txBox="1"/>
          <p:nvPr/>
        </p:nvSpPr>
        <p:spPr>
          <a:xfrm>
            <a:off x="3728150" y="13522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14번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4" name="Google Shape;1214;p93"/>
          <p:cNvSpPr txBox="1"/>
          <p:nvPr/>
        </p:nvSpPr>
        <p:spPr>
          <a:xfrm>
            <a:off x="4016450" y="11285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15번 ON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5" name="Google Shape;1215;p93"/>
          <p:cNvSpPr txBox="1"/>
          <p:nvPr/>
        </p:nvSpPr>
        <p:spPr>
          <a:xfrm>
            <a:off x="3728150" y="4828600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0번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6" name="Google Shape;1216;p93"/>
          <p:cNvSpPr txBox="1"/>
          <p:nvPr/>
        </p:nvSpPr>
        <p:spPr>
          <a:xfrm>
            <a:off x="3961975" y="4582300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7" name="Google Shape;1217;p93"/>
          <p:cNvSpPr txBox="1"/>
          <p:nvPr/>
        </p:nvSpPr>
        <p:spPr>
          <a:xfrm>
            <a:off x="4250275" y="4358550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2번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8" name="Google Shape;1218;p93"/>
          <p:cNvSpPr txBox="1"/>
          <p:nvPr/>
        </p:nvSpPr>
        <p:spPr>
          <a:xfrm>
            <a:off x="4507172" y="41327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3번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19" name="Google Shape;1219;p93"/>
          <p:cNvSpPr txBox="1"/>
          <p:nvPr/>
        </p:nvSpPr>
        <p:spPr>
          <a:xfrm>
            <a:off x="4740997" y="38864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4번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0" name="Google Shape;1220;p93"/>
          <p:cNvSpPr txBox="1"/>
          <p:nvPr/>
        </p:nvSpPr>
        <p:spPr>
          <a:xfrm>
            <a:off x="5029297" y="36626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5번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1" name="Google Shape;1221;p93"/>
          <p:cNvSpPr txBox="1"/>
          <p:nvPr/>
        </p:nvSpPr>
        <p:spPr>
          <a:xfrm>
            <a:off x="5293550" y="34368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6번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2" name="Google Shape;1222;p93"/>
          <p:cNvSpPr txBox="1"/>
          <p:nvPr/>
        </p:nvSpPr>
        <p:spPr>
          <a:xfrm>
            <a:off x="5581850" y="32131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7번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3" name="Google Shape;1223;p93"/>
          <p:cNvSpPr txBox="1"/>
          <p:nvPr/>
        </p:nvSpPr>
        <p:spPr>
          <a:xfrm>
            <a:off x="5581850" y="2758925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8번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4" name="Google Shape;1224;p93"/>
          <p:cNvSpPr txBox="1"/>
          <p:nvPr/>
        </p:nvSpPr>
        <p:spPr>
          <a:xfrm>
            <a:off x="5792675" y="2532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9번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5" name="Google Shape;1225;p93"/>
          <p:cNvSpPr txBox="1"/>
          <p:nvPr/>
        </p:nvSpPr>
        <p:spPr>
          <a:xfrm>
            <a:off x="6024000" y="22893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10번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6" name="Google Shape;1226;p93"/>
          <p:cNvSpPr txBox="1"/>
          <p:nvPr/>
        </p:nvSpPr>
        <p:spPr>
          <a:xfrm>
            <a:off x="6386725" y="20830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11번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7" name="Google Shape;1227;p93"/>
          <p:cNvSpPr txBox="1"/>
          <p:nvPr/>
        </p:nvSpPr>
        <p:spPr>
          <a:xfrm>
            <a:off x="6620550" y="183676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12번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8" name="Google Shape;1228;p93"/>
          <p:cNvSpPr txBox="1"/>
          <p:nvPr/>
        </p:nvSpPr>
        <p:spPr>
          <a:xfrm>
            <a:off x="6908850" y="1613013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13번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29" name="Google Shape;1229;p93"/>
          <p:cNvSpPr txBox="1"/>
          <p:nvPr/>
        </p:nvSpPr>
        <p:spPr>
          <a:xfrm>
            <a:off x="7147250" y="136763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14번 OFF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30" name="Google Shape;1230;p93"/>
          <p:cNvSpPr txBox="1"/>
          <p:nvPr/>
        </p:nvSpPr>
        <p:spPr>
          <a:xfrm>
            <a:off x="7435550" y="1143888"/>
            <a:ext cx="1565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LED 15번 OFF</a:t>
            </a:r>
            <a:endParaRPr sz="1500">
              <a:solidFill>
                <a:srgbClr val="FFFF00"/>
              </a:solidFill>
            </a:endParaRPr>
          </a:p>
        </p:txBody>
      </p:sp>
      <p:pic>
        <p:nvPicPr>
          <p:cNvPr id="1231" name="Google Shape;1231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600" y="905700"/>
            <a:ext cx="8965000" cy="4237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32" name="Google Shape;1232;p93"/>
          <p:cNvCxnSpPr/>
          <p:nvPr/>
        </p:nvCxnSpPr>
        <p:spPr>
          <a:xfrm flipH="1">
            <a:off x="186775" y="799450"/>
            <a:ext cx="16200" cy="43962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3" name="Google Shape;1233;p93"/>
          <p:cNvCxnSpPr/>
          <p:nvPr/>
        </p:nvCxnSpPr>
        <p:spPr>
          <a:xfrm flipH="1">
            <a:off x="414800" y="799450"/>
            <a:ext cx="36600" cy="40446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4" name="Google Shape;1234;p93"/>
          <p:cNvCxnSpPr/>
          <p:nvPr/>
        </p:nvCxnSpPr>
        <p:spPr>
          <a:xfrm flipH="1">
            <a:off x="703975" y="747300"/>
            <a:ext cx="28800" cy="38769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5" name="Google Shape;1235;p93"/>
          <p:cNvCxnSpPr/>
          <p:nvPr/>
        </p:nvCxnSpPr>
        <p:spPr>
          <a:xfrm flipH="1">
            <a:off x="963450" y="753850"/>
            <a:ext cx="4800" cy="36393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6" name="Google Shape;1236;p93"/>
          <p:cNvCxnSpPr/>
          <p:nvPr/>
        </p:nvCxnSpPr>
        <p:spPr>
          <a:xfrm>
            <a:off x="1217850" y="752100"/>
            <a:ext cx="1200" cy="33804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7" name="Google Shape;1237;p93"/>
          <p:cNvCxnSpPr/>
          <p:nvPr/>
        </p:nvCxnSpPr>
        <p:spPr>
          <a:xfrm flipH="1">
            <a:off x="1471475" y="753850"/>
            <a:ext cx="3300" cy="32076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38" name="Google Shape;1238;p93"/>
          <p:cNvCxnSpPr/>
          <p:nvPr/>
        </p:nvCxnSpPr>
        <p:spPr>
          <a:xfrm flipH="1">
            <a:off x="4476038" y="799450"/>
            <a:ext cx="16200" cy="43962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39" name="Google Shape;1239;p93"/>
          <p:cNvSpPr txBox="1"/>
          <p:nvPr/>
        </p:nvSpPr>
        <p:spPr>
          <a:xfrm>
            <a:off x="663225" y="4830675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1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0" name="Google Shape;1240;p93"/>
          <p:cNvSpPr txBox="1"/>
          <p:nvPr/>
        </p:nvSpPr>
        <p:spPr>
          <a:xfrm>
            <a:off x="862200" y="4602825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2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1" name="Google Shape;1241;p93"/>
          <p:cNvSpPr txBox="1"/>
          <p:nvPr/>
        </p:nvSpPr>
        <p:spPr>
          <a:xfrm>
            <a:off x="1098300" y="437935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3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2" name="Google Shape;1242;p93"/>
          <p:cNvSpPr txBox="1"/>
          <p:nvPr/>
        </p:nvSpPr>
        <p:spPr>
          <a:xfrm>
            <a:off x="1403250" y="4089038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4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3" name="Google Shape;1243;p93"/>
          <p:cNvSpPr txBox="1"/>
          <p:nvPr/>
        </p:nvSpPr>
        <p:spPr>
          <a:xfrm>
            <a:off x="1602225" y="3861188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5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4" name="Google Shape;1244;p93"/>
          <p:cNvSpPr txBox="1"/>
          <p:nvPr/>
        </p:nvSpPr>
        <p:spPr>
          <a:xfrm>
            <a:off x="1838325" y="3637713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6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5" name="Google Shape;1245;p93"/>
          <p:cNvSpPr txBox="1"/>
          <p:nvPr/>
        </p:nvSpPr>
        <p:spPr>
          <a:xfrm>
            <a:off x="2010300" y="341395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7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46" name="Google Shape;1246;p93"/>
          <p:cNvSpPr txBox="1"/>
          <p:nvPr/>
        </p:nvSpPr>
        <p:spPr>
          <a:xfrm>
            <a:off x="2245363" y="3168788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FND VALUE 8</a:t>
            </a:r>
            <a:endParaRPr sz="1500">
              <a:solidFill>
                <a:srgbClr val="FFFF00"/>
              </a:solidFill>
            </a:endParaRPr>
          </a:p>
        </p:txBody>
      </p:sp>
      <p:cxnSp>
        <p:nvCxnSpPr>
          <p:cNvPr id="1247" name="Google Shape;1247;p93"/>
          <p:cNvCxnSpPr/>
          <p:nvPr/>
        </p:nvCxnSpPr>
        <p:spPr>
          <a:xfrm flipH="1">
            <a:off x="4749963" y="668600"/>
            <a:ext cx="18900" cy="41142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8" name="Google Shape;1248;p93"/>
          <p:cNvCxnSpPr/>
          <p:nvPr/>
        </p:nvCxnSpPr>
        <p:spPr>
          <a:xfrm>
            <a:off x="5019838" y="739750"/>
            <a:ext cx="24300" cy="38685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cxnSp>
        <p:nvCxnSpPr>
          <p:cNvPr id="1249" name="Google Shape;1249;p93"/>
          <p:cNvCxnSpPr/>
          <p:nvPr/>
        </p:nvCxnSpPr>
        <p:spPr>
          <a:xfrm>
            <a:off x="5267600" y="706175"/>
            <a:ext cx="6600" cy="3708000"/>
          </a:xfrm>
          <a:prstGeom prst="straightConnector1">
            <a:avLst/>
          </a:prstGeom>
          <a:noFill/>
          <a:ln cap="flat" cmpd="sng" w="28575">
            <a:solidFill>
              <a:srgbClr val="FFFF00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250" name="Google Shape;1250;p93"/>
          <p:cNvSpPr txBox="1"/>
          <p:nvPr/>
        </p:nvSpPr>
        <p:spPr>
          <a:xfrm>
            <a:off x="2224725" y="2719588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9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1" name="Google Shape;1251;p93"/>
          <p:cNvSpPr txBox="1"/>
          <p:nvPr/>
        </p:nvSpPr>
        <p:spPr>
          <a:xfrm>
            <a:off x="2743275" y="224315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11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2" name="Google Shape;1252;p93"/>
          <p:cNvSpPr txBox="1"/>
          <p:nvPr/>
        </p:nvSpPr>
        <p:spPr>
          <a:xfrm>
            <a:off x="2942250" y="201530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12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3" name="Google Shape;1253;p93"/>
          <p:cNvSpPr txBox="1"/>
          <p:nvPr/>
        </p:nvSpPr>
        <p:spPr>
          <a:xfrm>
            <a:off x="3178350" y="1791825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13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4" name="Google Shape;1254;p93"/>
          <p:cNvSpPr txBox="1"/>
          <p:nvPr/>
        </p:nvSpPr>
        <p:spPr>
          <a:xfrm>
            <a:off x="3350325" y="1568063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14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5" name="Google Shape;1255;p93"/>
          <p:cNvSpPr txBox="1"/>
          <p:nvPr/>
        </p:nvSpPr>
        <p:spPr>
          <a:xfrm>
            <a:off x="3585388" y="132290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15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6" name="Google Shape;1256;p93"/>
          <p:cNvSpPr txBox="1"/>
          <p:nvPr/>
        </p:nvSpPr>
        <p:spPr>
          <a:xfrm>
            <a:off x="2517263" y="2480300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10</a:t>
            </a:r>
            <a:endParaRPr sz="1500">
              <a:solidFill>
                <a:srgbClr val="FFFF00"/>
              </a:solidFill>
            </a:endParaRPr>
          </a:p>
        </p:txBody>
      </p:sp>
      <p:sp>
        <p:nvSpPr>
          <p:cNvPr id="1257" name="Google Shape;1257;p93"/>
          <p:cNvSpPr txBox="1"/>
          <p:nvPr/>
        </p:nvSpPr>
        <p:spPr>
          <a:xfrm>
            <a:off x="3938963" y="1094175"/>
            <a:ext cx="1460100" cy="3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500">
                <a:solidFill>
                  <a:srgbClr val="FFFF00"/>
                </a:solidFill>
              </a:rPr>
              <a:t>VALUE 16</a:t>
            </a:r>
            <a:endParaRPr sz="150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94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Board Test</a:t>
            </a:r>
            <a:endParaRPr b="1" sz="3500"/>
          </a:p>
        </p:txBody>
      </p:sp>
      <p:sp>
        <p:nvSpPr>
          <p:cNvPr id="1263" name="Google Shape;1263;p94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94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5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9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/>
              <a:t>Board Test</a:t>
            </a:r>
            <a:endParaRPr b="1"/>
          </a:p>
        </p:txBody>
      </p:sp>
      <p:pic>
        <p:nvPicPr>
          <p:cNvPr id="1270" name="Google Shape;1270;p95" title="RISC-V_APBbus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6000" y="1170125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4" name="Shape 1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Google Shape;1275;p96"/>
          <p:cNvSpPr txBox="1"/>
          <p:nvPr>
            <p:ph idx="4294967295" type="ctrTitle"/>
          </p:nvPr>
        </p:nvSpPr>
        <p:spPr>
          <a:xfrm>
            <a:off x="4003350" y="2113338"/>
            <a:ext cx="4993800" cy="91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/>
              <a:t>Trouble shooting</a:t>
            </a:r>
            <a:endParaRPr b="1" sz="3500"/>
          </a:p>
        </p:txBody>
      </p:sp>
      <p:sp>
        <p:nvSpPr>
          <p:cNvPr id="1276" name="Google Shape;1276;p96"/>
          <p:cNvSpPr/>
          <p:nvPr/>
        </p:nvSpPr>
        <p:spPr>
          <a:xfrm flipH="1" rot="5400000">
            <a:off x="-150387" y="140388"/>
            <a:ext cx="5149225" cy="4862750"/>
          </a:xfrm>
          <a:prstGeom prst="flowChartManualInput">
            <a:avLst/>
          </a:prstGeom>
          <a:gradFill>
            <a:gsLst>
              <a:gs pos="0">
                <a:srgbClr val="424242"/>
              </a:gs>
              <a:gs pos="100000">
                <a:srgbClr val="010101"/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96"/>
          <p:cNvSpPr/>
          <p:nvPr/>
        </p:nvSpPr>
        <p:spPr>
          <a:xfrm>
            <a:off x="3380275" y="2166750"/>
            <a:ext cx="850800" cy="810000"/>
          </a:xfrm>
          <a:prstGeom prst="chord">
            <a:avLst>
              <a:gd fmla="val 20832337" name="adj1"/>
              <a:gd fmla="val 16861978" name="adj2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4000">
                <a:solidFill>
                  <a:schemeClr val="dk1"/>
                </a:solidFill>
              </a:rPr>
              <a:t>5</a:t>
            </a:r>
            <a:endParaRPr b="1" sz="4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p97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Trouble shooting</a:t>
            </a:r>
            <a:endParaRPr/>
          </a:p>
        </p:txBody>
      </p:sp>
      <p:pic>
        <p:nvPicPr>
          <p:cNvPr id="1283" name="Google Shape;128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199525"/>
            <a:ext cx="4525850" cy="18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9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712250"/>
            <a:ext cx="4366300" cy="4254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5" name="Google Shape;1285;p9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-7150" y="779375"/>
            <a:ext cx="4525850" cy="234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8"/>
          <p:cNvSpPr txBox="1"/>
          <p:nvPr>
            <p:ph type="title"/>
          </p:nvPr>
        </p:nvSpPr>
        <p:spPr>
          <a:xfrm>
            <a:off x="144175" y="139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Troubleshooting</a:t>
            </a:r>
            <a:endParaRPr/>
          </a:p>
        </p:txBody>
      </p:sp>
      <p:pic>
        <p:nvPicPr>
          <p:cNvPr id="1291" name="Google Shape;1291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175" y="712250"/>
            <a:ext cx="3722275" cy="41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2" name="Google Shape;1292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5125" y="629925"/>
            <a:ext cx="4349575" cy="237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3" name="Google Shape;1293;p98"/>
          <p:cNvSpPr/>
          <p:nvPr/>
        </p:nvSpPr>
        <p:spPr>
          <a:xfrm>
            <a:off x="5827400" y="1723825"/>
            <a:ext cx="360900" cy="3237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4" name="Google Shape;1294;p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97125" y="3059100"/>
            <a:ext cx="4765573" cy="183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98"/>
          <p:cNvSpPr/>
          <p:nvPr/>
        </p:nvSpPr>
        <p:spPr>
          <a:xfrm>
            <a:off x="6530225" y="1247100"/>
            <a:ext cx="360900" cy="144600"/>
          </a:xfrm>
          <a:prstGeom prst="ellipse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98"/>
          <p:cNvSpPr txBox="1"/>
          <p:nvPr/>
        </p:nvSpPr>
        <p:spPr>
          <a:xfrm>
            <a:off x="6996175" y="1067600"/>
            <a:ext cx="765000" cy="2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rgbClr val="FF0000"/>
                </a:solidFill>
              </a:rPr>
              <a:t>ir_en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0" name="Shape 1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Google Shape;1301;p99"/>
          <p:cNvSpPr txBox="1"/>
          <p:nvPr/>
        </p:nvSpPr>
        <p:spPr>
          <a:xfrm>
            <a:off x="3169600" y="1922025"/>
            <a:ext cx="23844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chemeClr val="dk2"/>
                </a:solidFill>
              </a:rPr>
              <a:t>감사합니다</a:t>
            </a:r>
            <a:endParaRPr sz="3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